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3" r:id="rId5"/>
    <p:sldId id="276" r:id="rId6"/>
    <p:sldId id="270" r:id="rId7"/>
    <p:sldId id="277" r:id="rId8"/>
    <p:sldId id="278" r:id="rId9"/>
    <p:sldId id="280" r:id="rId10"/>
    <p:sldId id="281" r:id="rId11"/>
    <p:sldId id="269" r:id="rId12"/>
    <p:sldId id="264" r:id="rId13"/>
    <p:sldId id="266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 autoAdjust="0"/>
    <p:restoredTop sz="80031" autoAdjust="0"/>
  </p:normalViewPr>
  <p:slideViewPr>
    <p:cSldViewPr>
      <p:cViewPr varScale="1">
        <p:scale>
          <a:sx n="58" d="100"/>
          <a:sy n="58" d="100"/>
        </p:scale>
        <p:origin x="104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8559A-1B58-9047-8FFD-CED99BE1F0CE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52C8B-98DE-E44C-8A29-EB09E4304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Di </a:t>
            </a:r>
            <a:r>
              <a:rPr lang="en-ID" dirty="0" err="1"/>
              <a:t>kapal</a:t>
            </a:r>
            <a:r>
              <a:rPr lang="en-ID" dirty="0"/>
              <a:t>,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yang </a:t>
            </a:r>
            <a:r>
              <a:rPr lang="en-ID" dirty="0" err="1"/>
              <a:t>aneh</a:t>
            </a:r>
            <a:r>
              <a:rPr lang="en-ID" dirty="0"/>
              <a:t>. Tapi yang </a:t>
            </a:r>
            <a:r>
              <a:rPr lang="en-ID" dirty="0" err="1"/>
              <a:t>membedakan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dan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biasa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 err="1"/>
              <a:t>cara</a:t>
            </a:r>
            <a:r>
              <a:rPr lang="en-ID" b="1" dirty="0"/>
              <a:t> </a:t>
            </a:r>
            <a:r>
              <a:rPr lang="en-ID" b="1" dirty="0" err="1"/>
              <a:t>mereka</a:t>
            </a:r>
            <a:r>
              <a:rPr lang="en-ID" b="1" dirty="0"/>
              <a:t> </a:t>
            </a:r>
            <a:r>
              <a:rPr lang="en-ID" b="1" dirty="0" err="1"/>
              <a:t>memahami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b="1" dirty="0"/>
              <a:t>.</a:t>
            </a:r>
            <a:endParaRPr lang="en-ID" dirty="0"/>
          </a:p>
          <a:p>
            <a:r>
              <a:rPr lang="en-ID" dirty="0"/>
              <a:t>Dalam </a:t>
            </a:r>
            <a:r>
              <a:rPr lang="en-ID" dirty="0" err="1"/>
              <a:t>sesi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berpikir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 agar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akarnya</a:t>
            </a:r>
            <a:r>
              <a:rPr lang="en-ID" dirty="0"/>
              <a:t> —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ampuh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b="1" dirty="0"/>
              <a:t>5 Why’s Analysis.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Tujuan </a:t>
            </a:r>
            <a:r>
              <a:rPr lang="en-ID" dirty="0" err="1"/>
              <a:t>pelatihan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b="1" dirty="0" err="1"/>
              <a:t>menyelesaikan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benar</a:t>
            </a:r>
            <a:r>
              <a:rPr lang="en-ID" b="1" dirty="0"/>
              <a:t>.</a:t>
            </a:r>
            <a:endParaRPr lang="en-ID" dirty="0"/>
          </a:p>
          <a:p>
            <a:r>
              <a:rPr lang="en-ID" dirty="0" err="1"/>
              <a:t>Kadang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gejala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sumbernya</a:t>
            </a:r>
            <a:r>
              <a:rPr lang="en-ID" dirty="0"/>
              <a:t>. Nah, tools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bantu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berpikir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rumit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57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Ini </a:t>
            </a:r>
            <a:r>
              <a:rPr lang="en-ID" dirty="0" err="1"/>
              <a:t>penting</a:t>
            </a:r>
            <a:r>
              <a:rPr lang="en-ID" dirty="0"/>
              <a:t>: </a:t>
            </a:r>
            <a:r>
              <a:rPr lang="en-ID" dirty="0" err="1"/>
              <a:t>banyak</a:t>
            </a:r>
            <a:r>
              <a:rPr lang="en-ID" dirty="0"/>
              <a:t> orang </a:t>
            </a:r>
            <a:r>
              <a:rPr lang="en-ID" dirty="0" err="1"/>
              <a:t>berhenti</a:t>
            </a:r>
            <a:r>
              <a:rPr lang="en-ID" dirty="0"/>
              <a:t> di </a:t>
            </a:r>
            <a:r>
              <a:rPr lang="en-ID" dirty="0" err="1"/>
              <a:t>gejala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Kita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i="1" dirty="0" err="1"/>
              <a:t>apa</a:t>
            </a:r>
            <a:r>
              <a:rPr lang="en-ID" i="1" dirty="0"/>
              <a:t> yang </a:t>
            </a:r>
            <a:r>
              <a:rPr lang="en-ID" i="1" dirty="0" err="1"/>
              <a:t>terlihat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i="1" dirty="0" err="1"/>
              <a:t>apa</a:t>
            </a:r>
            <a:r>
              <a:rPr lang="en-ID" i="1" dirty="0"/>
              <a:t> yang </a:t>
            </a:r>
            <a:r>
              <a:rPr lang="en-ID" i="1" dirty="0" err="1"/>
              <a:t>menyebabkan</a:t>
            </a:r>
            <a:r>
              <a:rPr lang="en-ID" dirty="0"/>
              <a:t>.</a:t>
            </a:r>
          </a:p>
          <a:p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mati</a:t>
            </a:r>
            <a:r>
              <a:rPr lang="en-ID" dirty="0"/>
              <a:t> —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perbaiki</a:t>
            </a:r>
            <a:r>
              <a:rPr lang="en-ID" dirty="0"/>
              <a:t>. Tapi </a:t>
            </a:r>
            <a:r>
              <a:rPr lang="en-ID" dirty="0" err="1"/>
              <a:t>kalau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kenapa</a:t>
            </a:r>
            <a:r>
              <a:rPr lang="en-ID" dirty="0"/>
              <a:t> filter </a:t>
            </a:r>
            <a:r>
              <a:rPr lang="en-ID" dirty="0" err="1"/>
              <a:t>tersumbat</a:t>
            </a:r>
            <a:r>
              <a:rPr lang="en-ID" dirty="0"/>
              <a:t>, </a:t>
            </a:r>
            <a:r>
              <a:rPr lang="en-ID" dirty="0" err="1"/>
              <a:t>kejadian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terulang</a:t>
            </a:r>
            <a:r>
              <a:rPr lang="en-ID" dirty="0"/>
              <a:t>.</a:t>
            </a:r>
          </a:p>
          <a:p>
            <a:r>
              <a:rPr lang="en-ID" dirty="0"/>
              <a:t>Nah, di </a:t>
            </a:r>
            <a:r>
              <a:rPr lang="en-ID" dirty="0" err="1"/>
              <a:t>sinilah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</a:t>
            </a:r>
            <a:r>
              <a:rPr lang="en-ID" b="1" dirty="0"/>
              <a:t>5 Why’s</a:t>
            </a:r>
            <a:r>
              <a:rPr lang="en-ID" dirty="0"/>
              <a:t> —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menggali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sebenarnya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14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5 Why’s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: </a:t>
            </a:r>
            <a:r>
              <a:rPr lang="en-ID" dirty="0" err="1"/>
              <a:t>setiap</a:t>
            </a:r>
            <a:r>
              <a:rPr lang="en-ID" dirty="0"/>
              <a:t> kali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bertanya</a:t>
            </a:r>
            <a:r>
              <a:rPr lang="en-ID" dirty="0"/>
              <a:t> “</a:t>
            </a: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?” </a:t>
            </a:r>
            <a:r>
              <a:rPr lang="en-ID" dirty="0" err="1"/>
              <a:t>berulang</a:t>
            </a:r>
            <a:r>
              <a:rPr lang="en-ID" dirty="0"/>
              <a:t> kali.</a:t>
            </a:r>
          </a:p>
          <a:p>
            <a:r>
              <a:rPr lang="en-ID" dirty="0" err="1"/>
              <a:t>Biasanya</a:t>
            </a:r>
            <a:r>
              <a:rPr lang="en-ID" dirty="0"/>
              <a:t>, </a:t>
            </a:r>
            <a:r>
              <a:rPr lang="en-ID" dirty="0" err="1"/>
              <a:t>setelah</a:t>
            </a:r>
            <a:r>
              <a:rPr lang="en-ID" dirty="0"/>
              <a:t> lima kali,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pada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sebenarnya</a:t>
            </a:r>
            <a:r>
              <a:rPr lang="en-ID" dirty="0"/>
              <a:t>.</a:t>
            </a:r>
          </a:p>
          <a:p>
            <a:r>
              <a:rPr lang="en-ID" dirty="0" err="1"/>
              <a:t>Kuncinya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“why”,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kedalaman</a:t>
            </a:r>
            <a:r>
              <a:rPr lang="en-ID" dirty="0"/>
              <a:t> </a:t>
            </a:r>
            <a:r>
              <a:rPr lang="en-ID" dirty="0" err="1"/>
              <a:t>analisisnya</a:t>
            </a:r>
            <a:r>
              <a:rPr lang="en-ID" dirty="0"/>
              <a:t> —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yang </a:t>
            </a:r>
            <a:r>
              <a:rPr lang="en-ID" b="1" dirty="0" err="1"/>
              <a:t>bisa</a:t>
            </a:r>
            <a:r>
              <a:rPr lang="en-ID" b="1" dirty="0"/>
              <a:t> </a:t>
            </a:r>
            <a:r>
              <a:rPr lang="en-ID" b="1" dirty="0" err="1"/>
              <a:t>diperbaiki</a:t>
            </a:r>
            <a:r>
              <a:rPr lang="en-ID" b="1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6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FAE5-99EA-7E2C-DD98-FC7E3E9B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FB441-49E6-0AF2-85C4-FF5D766EC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B84EA-5EB7-9018-E3E1-11B1D8DBE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yang salah.</a:t>
            </a:r>
            <a:br>
              <a:rPr lang="en-ID" dirty="0"/>
            </a:br>
            <a:r>
              <a:rPr lang="en-ID" dirty="0" err="1"/>
              <a:t>Awali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 </a:t>
            </a:r>
            <a:r>
              <a:rPr lang="en-ID" b="1" dirty="0"/>
              <a:t>“</a:t>
            </a:r>
            <a:r>
              <a:rPr lang="en-ID" b="1" dirty="0" err="1"/>
              <a:t>apa</a:t>
            </a:r>
            <a:r>
              <a:rPr lang="en-ID" b="1" dirty="0"/>
              <a:t> yang </a:t>
            </a:r>
            <a:r>
              <a:rPr lang="en-ID" b="1" dirty="0" err="1"/>
              <a:t>sebenarnya</a:t>
            </a:r>
            <a:r>
              <a:rPr lang="en-ID" b="1" dirty="0"/>
              <a:t> </a:t>
            </a:r>
            <a:r>
              <a:rPr lang="en-ID" b="1" dirty="0" err="1"/>
              <a:t>terjadi</a:t>
            </a:r>
            <a:r>
              <a:rPr lang="en-ID" b="1" dirty="0"/>
              <a:t>.”</a:t>
            </a:r>
            <a:endParaRPr lang="en-ID" dirty="0"/>
          </a:p>
          <a:p>
            <a:r>
              <a:rPr lang="en-ID" dirty="0"/>
              <a:t>Ini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diskusi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obyektif</a:t>
            </a:r>
            <a:r>
              <a:rPr lang="en-ID" dirty="0"/>
              <a:t> dan </a:t>
            </a:r>
            <a:r>
              <a:rPr lang="en-ID" dirty="0" err="1"/>
              <a:t>aman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Kalau </a:t>
            </a:r>
            <a:r>
              <a:rPr lang="en-ID" dirty="0" err="1"/>
              <a:t>definisinya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,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berikutnya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meleset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EBD17-DB35-183B-600B-DA2C3598C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89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Di </a:t>
            </a:r>
            <a:r>
              <a:rPr lang="en-ID" dirty="0" err="1"/>
              <a:t>sinilah</a:t>
            </a:r>
            <a:r>
              <a:rPr lang="en-ID" dirty="0"/>
              <a:t> inti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jawaban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</a:t>
            </a:r>
            <a:r>
              <a:rPr lang="en-ID" dirty="0" err="1"/>
              <a:t>pintu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berikutnya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berhenti</a:t>
            </a:r>
            <a:r>
              <a:rPr lang="en-ID" dirty="0"/>
              <a:t> di </a:t>
            </a:r>
            <a:r>
              <a:rPr lang="en-ID" dirty="0" err="1"/>
              <a:t>permukaan</a:t>
            </a:r>
            <a:r>
              <a:rPr lang="en-ID" dirty="0"/>
              <a:t> — </a:t>
            </a:r>
            <a:r>
              <a:rPr lang="en-ID" dirty="0" err="1"/>
              <a:t>gali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dikontrol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diperbaiki</a:t>
            </a:r>
            <a:r>
              <a:rPr lang="en-ID" dirty="0"/>
              <a:t> oleh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24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9813-7FB9-F30B-5AD5-E14A5FC5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50C4F-AD11-AF79-3867-3783ECC42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26086-1805-EA36-68F6-504F1DD7D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Biasanya</a:t>
            </a:r>
            <a:r>
              <a:rPr lang="en-ID" dirty="0"/>
              <a:t> di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keempat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kelima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yang </a:t>
            </a:r>
            <a:r>
              <a:rPr lang="en-ID" dirty="0" err="1"/>
              <a:t>nyata</a:t>
            </a:r>
            <a:r>
              <a:rPr lang="en-ID" dirty="0"/>
              <a:t>.</a:t>
            </a:r>
          </a:p>
          <a:p>
            <a:r>
              <a:rPr lang="en-ID" dirty="0" err="1"/>
              <a:t>Lihat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di </a:t>
            </a:r>
            <a:r>
              <a:rPr lang="en-ID" dirty="0" err="1"/>
              <a:t>sini</a:t>
            </a:r>
            <a:r>
              <a:rPr lang="en-ID" dirty="0"/>
              <a:t> — </a:t>
            </a:r>
            <a:r>
              <a:rPr lang="en-ID" dirty="0" err="1"/>
              <a:t>masalahnya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di filter, </a:t>
            </a:r>
            <a:r>
              <a:rPr lang="en-ID" dirty="0" err="1"/>
              <a:t>tapi</a:t>
            </a:r>
            <a:r>
              <a:rPr lang="en-ID" dirty="0"/>
              <a:t> di </a:t>
            </a:r>
            <a:r>
              <a:rPr lang="en-ID" b="1" dirty="0" err="1"/>
              <a:t>manajemen</a:t>
            </a:r>
            <a:r>
              <a:rPr lang="en-ID" b="1" dirty="0"/>
              <a:t> maintenance.</a:t>
            </a:r>
            <a:endParaRPr lang="en-ID" dirty="0"/>
          </a:p>
          <a:p>
            <a:r>
              <a:rPr lang="en-ID" dirty="0"/>
              <a:t>Kalau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masalahnya</a:t>
            </a:r>
            <a:r>
              <a:rPr lang="en-ID" dirty="0"/>
              <a:t> salah,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menambal</a:t>
            </a:r>
            <a:r>
              <a:rPr lang="en-ID" dirty="0"/>
              <a:t> </a:t>
            </a:r>
            <a:r>
              <a:rPr lang="en-ID" dirty="0" err="1"/>
              <a:t>permukaan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E262-1C5A-8AE1-6B3E-009814CFF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44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286E-DFC5-9E1C-C8AC-7072ADCF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BAB8D-B5D6-9CCC-86B6-A7BCC68BB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841A4-6E1A-4743-FFD4-93A23868E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Kadang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, </a:t>
            </a:r>
            <a:r>
              <a:rPr lang="en-ID" dirty="0" err="1"/>
              <a:t>padahal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di </a:t>
            </a:r>
            <a:r>
              <a:rPr lang="en-ID" dirty="0" err="1"/>
              <a:t>tengah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.</a:t>
            </a:r>
          </a:p>
          <a:p>
            <a:r>
              <a:rPr lang="en-ID" dirty="0" err="1"/>
              <a:t>Validasi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: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</a:t>
            </a:r>
            <a:r>
              <a:rPr lang="en-ID" dirty="0" err="1"/>
              <a:t>kalau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memperbaiki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?</a:t>
            </a:r>
          </a:p>
          <a:p>
            <a:r>
              <a:rPr lang="en-ID" dirty="0"/>
              <a:t>Kalau </a:t>
            </a:r>
            <a:r>
              <a:rPr lang="en-ID" dirty="0" err="1"/>
              <a:t>jawabannya</a:t>
            </a:r>
            <a:r>
              <a:rPr lang="en-ID" dirty="0"/>
              <a:t> </a:t>
            </a:r>
            <a:r>
              <a:rPr lang="en-ID" dirty="0" err="1"/>
              <a:t>ya</a:t>
            </a:r>
            <a:r>
              <a:rPr lang="en-ID" dirty="0"/>
              <a:t>,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di </a:t>
            </a:r>
            <a:r>
              <a:rPr lang="en-ID" dirty="0" err="1"/>
              <a:t>akar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FCFEC-D698-BFE2-5D69-1C0FF5457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29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1830-791B-143F-3853-21E307B7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E6D8B-A8F7-BAB8-C550-80AF716DA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335EC-D66A-A93B-D91A-DEB8D760F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masalahnya</a:t>
            </a:r>
            <a:r>
              <a:rPr lang="en-ID" dirty="0"/>
              <a:t>,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tentukan</a:t>
            </a:r>
            <a:r>
              <a:rPr lang="en-ID" dirty="0"/>
              <a:t> </a:t>
            </a:r>
            <a:r>
              <a:rPr lang="en-ID" dirty="0" err="1"/>
              <a:t>tindakan</a:t>
            </a:r>
            <a:r>
              <a:rPr lang="en-ID" dirty="0"/>
              <a:t>.</a:t>
            </a:r>
          </a:p>
          <a:p>
            <a:r>
              <a:rPr lang="en-ID" dirty="0"/>
              <a:t>Solusi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yang </a:t>
            </a:r>
            <a:r>
              <a:rPr lang="en-ID" dirty="0" err="1"/>
              <a:t>spektakuler</a:t>
            </a:r>
            <a:r>
              <a:rPr lang="en-ID" dirty="0"/>
              <a:t>, </a:t>
            </a:r>
            <a:r>
              <a:rPr lang="en-ID" dirty="0" err="1"/>
              <a:t>tapi</a:t>
            </a:r>
            <a:r>
              <a:rPr lang="en-ID" dirty="0"/>
              <a:t> yang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dan </a:t>
            </a:r>
            <a:r>
              <a:rPr lang="en-ID" b="1" dirty="0" err="1"/>
              <a:t>mengubah</a:t>
            </a:r>
            <a:r>
              <a:rPr lang="en-ID" b="1" dirty="0"/>
              <a:t> </a:t>
            </a:r>
            <a:r>
              <a:rPr lang="en-ID" b="1" dirty="0" err="1"/>
              <a:t>kebiasaan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r>
              <a:rPr lang="en-ID" b="1" dirty="0"/>
              <a:t>.</a:t>
            </a:r>
            <a:endParaRPr lang="en-ID" dirty="0"/>
          </a:p>
          <a:p>
            <a:r>
              <a:rPr lang="en-ID" dirty="0" err="1"/>
              <a:t>Ingat</a:t>
            </a:r>
            <a:r>
              <a:rPr lang="en-ID" dirty="0"/>
              <a:t>,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yang salah,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5FBAB-3C63-9DA4-7D89-886642DFB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9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95DE-4346-4912-0C05-B29841F4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BD431-B6A5-FCF3-874F-355CC1F85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C9538-DF55-0886-C3CA-1C0201C10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Dokumentasi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sepele</a:t>
            </a:r>
            <a:r>
              <a:rPr lang="en-ID" dirty="0"/>
              <a:t>, </a:t>
            </a:r>
            <a:r>
              <a:rPr lang="en-ID" dirty="0" err="1"/>
              <a:t>padahal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i="1" dirty="0"/>
              <a:t>continuous improvement.</a:t>
            </a:r>
            <a:endParaRPr lang="en-ID" dirty="0"/>
          </a:p>
          <a:p>
            <a:r>
              <a:rPr lang="en-ID" dirty="0"/>
              <a:t>Ketika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dicatat</a:t>
            </a:r>
            <a:r>
              <a:rPr lang="en-ID" dirty="0"/>
              <a:t> dan </a:t>
            </a:r>
            <a:r>
              <a:rPr lang="en-ID" dirty="0" err="1"/>
              <a:t>dibagikan</a:t>
            </a:r>
            <a:r>
              <a:rPr lang="en-ID" dirty="0"/>
              <a:t>, </a:t>
            </a:r>
            <a:r>
              <a:rPr lang="en-ID" dirty="0" err="1"/>
              <a:t>tim</a:t>
            </a:r>
            <a:r>
              <a:rPr lang="en-ID" dirty="0"/>
              <a:t> lain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mengulang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.</a:t>
            </a:r>
          </a:p>
          <a:p>
            <a:r>
              <a:rPr lang="en-ID" dirty="0" err="1"/>
              <a:t>Inilah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di </a:t>
            </a:r>
            <a:r>
              <a:rPr lang="en-ID" dirty="0" err="1"/>
              <a:t>kapal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9DD15-A6A2-4BBB-8D68-B4BDE370A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68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Mari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5 Why’s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r>
              <a:rPr lang="en-ID" dirty="0" err="1"/>
              <a:t>Ingat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menebak</a:t>
            </a:r>
            <a:r>
              <a:rPr lang="en-ID" dirty="0"/>
              <a:t>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demi </a:t>
            </a:r>
            <a:r>
              <a:rPr lang="en-ID" dirty="0" err="1"/>
              <a:t>langkah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Fokus</a:t>
            </a:r>
            <a:r>
              <a:rPr lang="en-ID" dirty="0"/>
              <a:t> pada data dan </a:t>
            </a:r>
            <a:r>
              <a:rPr lang="en-ID" dirty="0" err="1"/>
              <a:t>fakta</a:t>
            </a:r>
            <a:r>
              <a:rPr lang="en-ID" dirty="0"/>
              <a:t> di </a:t>
            </a:r>
            <a:r>
              <a:rPr lang="en-ID" dirty="0" err="1"/>
              <a:t>lapangan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89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Dalam </a:t>
            </a:r>
            <a:r>
              <a:rPr lang="en-ID" dirty="0" err="1"/>
              <a:t>kasus</a:t>
            </a:r>
            <a:r>
              <a:rPr lang="en-ID" dirty="0"/>
              <a:t> alarm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rendah</a:t>
            </a:r>
            <a:r>
              <a:rPr lang="en-ID" dirty="0"/>
              <a:t> di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pendingin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dimulai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fakta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 air </a:t>
            </a:r>
            <a:r>
              <a:rPr lang="en-ID" dirty="0" err="1"/>
              <a:t>turun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pompa</a:t>
            </a:r>
            <a:r>
              <a:rPr lang="en-ID" dirty="0"/>
              <a:t> </a:t>
            </a:r>
            <a:r>
              <a:rPr lang="en-ID" dirty="0" err="1"/>
              <a:t>sirkulasi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optimal. </a:t>
            </a:r>
          </a:p>
          <a:p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diperiksa</a:t>
            </a:r>
            <a:r>
              <a:rPr lang="en-ID" dirty="0"/>
              <a:t>, </a:t>
            </a:r>
            <a:r>
              <a:rPr lang="en-ID" dirty="0" err="1"/>
              <a:t>ditemukan</a:t>
            </a:r>
            <a:r>
              <a:rPr lang="en-ID" dirty="0"/>
              <a:t> impeller </a:t>
            </a:r>
            <a:r>
              <a:rPr lang="en-ID" dirty="0" err="1"/>
              <a:t>kotor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dibersihkan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dua </a:t>
            </a:r>
            <a:r>
              <a:rPr lang="en-ID" dirty="0" err="1"/>
              <a:t>minggu</a:t>
            </a:r>
            <a:r>
              <a:rPr lang="en-ID" dirty="0"/>
              <a:t> </a:t>
            </a:r>
            <a:r>
              <a:rPr lang="en-ID" dirty="0" err="1"/>
              <a:t>terakhir</a:t>
            </a:r>
            <a:r>
              <a:rPr lang="en-ID" dirty="0"/>
              <a:t>. </a:t>
            </a:r>
          </a:p>
          <a:p>
            <a:r>
              <a:rPr lang="en-ID" dirty="0"/>
              <a:t>Dari </a:t>
            </a:r>
            <a:r>
              <a:rPr lang="en-ID" dirty="0" err="1"/>
              <a:t>catatan</a:t>
            </a:r>
            <a:r>
              <a:rPr lang="en-ID" dirty="0"/>
              <a:t> maintenance, </a:t>
            </a:r>
            <a:r>
              <a:rPr lang="en-ID" dirty="0" err="1"/>
              <a:t>rupanya</a:t>
            </a:r>
            <a:r>
              <a:rPr lang="en-ID" dirty="0"/>
              <a:t> </a:t>
            </a:r>
            <a:r>
              <a:rPr lang="en-ID" dirty="0" err="1"/>
              <a:t>jadwal</a:t>
            </a:r>
            <a:r>
              <a:rPr lang="en-ID" dirty="0"/>
              <a:t> cleaning </a:t>
            </a:r>
            <a:r>
              <a:rPr lang="en-ID" dirty="0" err="1"/>
              <a:t>terlewat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kru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SOP </a:t>
            </a:r>
            <a:r>
              <a:rPr lang="en-ID" dirty="0" err="1"/>
              <a:t>kerja</a:t>
            </a:r>
            <a:r>
              <a:rPr lang="en-ID" dirty="0"/>
              <a:t>. </a:t>
            </a:r>
          </a:p>
          <a:p>
            <a:r>
              <a:rPr lang="en-ID" dirty="0"/>
              <a:t>Jadi,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masalahnya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pada </a:t>
            </a:r>
            <a:r>
              <a:rPr lang="en-ID" dirty="0" err="1"/>
              <a:t>alat</a:t>
            </a:r>
            <a:r>
              <a:rPr lang="en-ID" dirty="0"/>
              <a:t>, </a:t>
            </a:r>
            <a:r>
              <a:rPr lang="en-ID" dirty="0" err="1"/>
              <a:t>tapi</a:t>
            </a:r>
            <a:r>
              <a:rPr lang="en-ID" dirty="0"/>
              <a:t> pada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sosialisasi</a:t>
            </a:r>
            <a:r>
              <a:rPr lang="en-ID" dirty="0"/>
              <a:t> </a:t>
            </a:r>
            <a:r>
              <a:rPr lang="en-ID" dirty="0" err="1"/>
              <a:t>prosedur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kru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. </a:t>
            </a:r>
          </a:p>
          <a:p>
            <a:r>
              <a:rPr lang="en-ID" dirty="0" err="1"/>
              <a:t>Solusinya</a:t>
            </a:r>
            <a:r>
              <a:rPr lang="en-ID" dirty="0"/>
              <a:t>, </a:t>
            </a:r>
            <a:r>
              <a:rPr lang="en-ID" dirty="0" err="1"/>
              <a:t>lakukan</a:t>
            </a:r>
            <a:r>
              <a:rPr lang="en-ID" dirty="0"/>
              <a:t> refresh SOP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pergantian</a:t>
            </a:r>
            <a:r>
              <a:rPr lang="en-ID" dirty="0"/>
              <a:t> </a:t>
            </a:r>
            <a:r>
              <a:rPr lang="en-ID" dirty="0" err="1"/>
              <a:t>kru</a:t>
            </a:r>
            <a:r>
              <a:rPr lang="en-ID" dirty="0"/>
              <a:t> dan </a:t>
            </a:r>
            <a:r>
              <a:rPr lang="en-ID" dirty="0" err="1"/>
              <a:t>tambahkan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verifikasi</a:t>
            </a:r>
            <a:r>
              <a:rPr lang="en-ID" dirty="0"/>
              <a:t> cleaning di log sheet agar </a:t>
            </a:r>
            <a:r>
              <a:rPr lang="en-ID" dirty="0" err="1"/>
              <a:t>kegiatan</a:t>
            </a:r>
            <a:r>
              <a:rPr lang="en-ID" dirty="0"/>
              <a:t> rutin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terpantau</a:t>
            </a:r>
            <a:r>
              <a:rPr lang="en-ID" dirty="0"/>
              <a:t>. </a:t>
            </a:r>
          </a:p>
          <a:p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serupa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dicegah</a:t>
            </a:r>
            <a:r>
              <a:rPr lang="en-ID" dirty="0"/>
              <a:t> dan </a:t>
            </a:r>
            <a:r>
              <a:rPr lang="en-ID" dirty="0" err="1"/>
              <a:t>kinerja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andal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34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Rekan-</a:t>
            </a:r>
            <a:r>
              <a:rPr lang="en-ID" dirty="0" err="1"/>
              <a:t>rekan</a:t>
            </a:r>
            <a:r>
              <a:rPr lang="en-ID" dirty="0"/>
              <a:t>,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dampaknya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  <a:p>
            <a:r>
              <a:rPr lang="en-ID" dirty="0" err="1"/>
              <a:t>Gunakan</a:t>
            </a:r>
            <a:r>
              <a:rPr lang="en-ID" dirty="0"/>
              <a:t> 5 Why’s </a:t>
            </a:r>
            <a:r>
              <a:rPr lang="en-ID" dirty="0" err="1"/>
              <a:t>setiap</a:t>
            </a:r>
            <a:r>
              <a:rPr lang="en-ID" dirty="0"/>
              <a:t> kali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, </a:t>
            </a:r>
            <a:r>
              <a:rPr lang="en-ID" dirty="0" err="1"/>
              <a:t>bahkan</a:t>
            </a:r>
            <a:r>
              <a:rPr lang="en-ID" dirty="0"/>
              <a:t> yang </a:t>
            </a:r>
            <a:r>
              <a:rPr lang="en-ID" dirty="0" err="1"/>
              <a:t>kecil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Karena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“</a:t>
            </a:r>
            <a:r>
              <a:rPr lang="en-ID" dirty="0" err="1"/>
              <a:t>Mengapa</a:t>
            </a:r>
            <a:r>
              <a:rPr lang="en-ID" dirty="0"/>
              <a:t>?” </a:t>
            </a:r>
            <a:r>
              <a:rPr lang="en-ID" dirty="0" err="1"/>
              <a:t>membawa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dekat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.</a:t>
            </a:r>
          </a:p>
          <a:p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— </a:t>
            </a:r>
            <a:r>
              <a:rPr lang="en-ID" dirty="0" err="1"/>
              <a:t>tapi</a:t>
            </a:r>
            <a:r>
              <a:rPr lang="en-ID" dirty="0"/>
              <a:t> juga </a:t>
            </a:r>
            <a:r>
              <a:rPr lang="en-ID" b="1" dirty="0" err="1"/>
              <a:t>membangun</a:t>
            </a:r>
            <a:r>
              <a:rPr lang="en-ID" b="1" dirty="0"/>
              <a:t> </a:t>
            </a:r>
            <a:r>
              <a:rPr lang="en-ID" b="1" dirty="0" err="1"/>
              <a:t>budaya</a:t>
            </a:r>
            <a:r>
              <a:rPr lang="en-ID" b="1" dirty="0"/>
              <a:t> </a:t>
            </a:r>
            <a:r>
              <a:rPr lang="en-ID" b="1" dirty="0" err="1"/>
              <a:t>berpikir</a:t>
            </a:r>
            <a:r>
              <a:rPr lang="en-ID" b="1" dirty="0"/>
              <a:t> </a:t>
            </a:r>
            <a:r>
              <a:rPr lang="en-ID" b="1" dirty="0" err="1"/>
              <a:t>analitis</a:t>
            </a:r>
            <a:r>
              <a:rPr lang="en-ID" b="1" dirty="0"/>
              <a:t> dan </a:t>
            </a:r>
            <a:r>
              <a:rPr lang="en-ID" b="1" dirty="0" err="1"/>
              <a:t>preventif</a:t>
            </a:r>
            <a:r>
              <a:rPr lang="en-ID" b="1" dirty="0"/>
              <a:t> di </a:t>
            </a:r>
            <a:r>
              <a:rPr lang="en-ID" b="1" dirty="0" err="1"/>
              <a:t>kapal</a:t>
            </a:r>
            <a:r>
              <a:rPr lang="en-ID" b="1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2C8B-98DE-E44C-8A29-EB09E43047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80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5400000">
            <a:off x="7261429" y="-7319559"/>
            <a:ext cx="3765141" cy="18288000"/>
            <a:chOff x="0" y="0"/>
            <a:chExt cx="991642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91642" cy="4816592"/>
            </a:xfrm>
            <a:custGeom>
              <a:avLst/>
              <a:gdLst/>
              <a:ahLst/>
              <a:cxnLst/>
              <a:rect l="l" t="t" r="r" b="b"/>
              <a:pathLst>
                <a:path w="991642" h="4816592">
                  <a:moveTo>
                    <a:pt x="0" y="0"/>
                  </a:moveTo>
                  <a:lnTo>
                    <a:pt x="991642" y="0"/>
                  </a:lnTo>
                  <a:lnTo>
                    <a:pt x="991642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47625"/>
              <a:ext cx="991642" cy="4768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3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312946" y="8311946"/>
            <a:ext cx="946354" cy="946354"/>
          </a:xfrm>
          <a:custGeom>
            <a:avLst/>
            <a:gdLst/>
            <a:ahLst/>
            <a:cxnLst/>
            <a:rect l="l" t="t" r="r" b="b"/>
            <a:pathLst>
              <a:path w="946354" h="946354">
                <a:moveTo>
                  <a:pt x="0" y="0"/>
                </a:moveTo>
                <a:lnTo>
                  <a:pt x="946354" y="0"/>
                </a:lnTo>
                <a:lnTo>
                  <a:pt x="946354" y="946354"/>
                </a:lnTo>
                <a:lnTo>
                  <a:pt x="0" y="946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5655" y="2934393"/>
            <a:ext cx="10504799" cy="158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21"/>
              </a:lnSpc>
              <a:spcBef>
                <a:spcPct val="0"/>
              </a:spcBef>
            </a:pPr>
            <a:r>
              <a:rPr lang="en-US" sz="9443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Risk &amp;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655" y="4223255"/>
            <a:ext cx="10504799" cy="158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21"/>
              </a:lnSpc>
              <a:spcBef>
                <a:spcPct val="0"/>
              </a:spcBef>
            </a:pPr>
            <a:r>
              <a:rPr lang="en-US" sz="9443" b="1" dirty="0">
                <a:solidFill>
                  <a:srgbClr val="212625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66"/>
    </mc:Choice>
    <mc:Fallback xmlns="">
      <p:transition spd="slow" advTm="399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91601" y="895350"/>
            <a:ext cx="1050479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OBJECTIVE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E048C-405D-28CD-CCF6-AD5423068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4100" dirty="0" err="1"/>
              <a:t>Setelah</a:t>
            </a:r>
            <a:r>
              <a:rPr lang="en-ID" sz="4100" dirty="0"/>
              <a:t> </a:t>
            </a:r>
            <a:r>
              <a:rPr lang="en-ID" sz="4100" dirty="0" err="1"/>
              <a:t>mengikuti</a:t>
            </a:r>
            <a:r>
              <a:rPr lang="en-ID" sz="4100" dirty="0"/>
              <a:t> </a:t>
            </a:r>
            <a:r>
              <a:rPr lang="en-ID" sz="4100" dirty="0" err="1"/>
              <a:t>sesi</a:t>
            </a:r>
            <a:r>
              <a:rPr lang="en-ID" sz="4100" dirty="0"/>
              <a:t> </a:t>
            </a:r>
            <a:r>
              <a:rPr lang="en-ID" sz="4100" dirty="0" err="1"/>
              <a:t>ini</a:t>
            </a:r>
            <a:r>
              <a:rPr lang="en-ID" sz="4100" dirty="0"/>
              <a:t>, </a:t>
            </a:r>
            <a:r>
              <a:rPr lang="en-ID" sz="4100" dirty="0" err="1"/>
              <a:t>peserta</a:t>
            </a:r>
            <a:r>
              <a:rPr lang="en-ID" sz="4100" dirty="0"/>
              <a:t> </a:t>
            </a:r>
            <a:r>
              <a:rPr lang="en-ID" sz="4100" dirty="0" err="1"/>
              <a:t>diharapkan</a:t>
            </a:r>
            <a:r>
              <a:rPr lang="en-ID" sz="4100" dirty="0"/>
              <a:t> </a:t>
            </a:r>
            <a:r>
              <a:rPr lang="en-ID" sz="4100" dirty="0" err="1"/>
              <a:t>mampu</a:t>
            </a:r>
            <a:r>
              <a:rPr lang="en-ID" sz="41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4100" dirty="0" err="1"/>
              <a:t>Mengidentifikasi</a:t>
            </a:r>
            <a:r>
              <a:rPr lang="en-ID" sz="4100" dirty="0"/>
              <a:t> </a:t>
            </a:r>
            <a:r>
              <a:rPr lang="en-ID" sz="4100" dirty="0" err="1"/>
              <a:t>masalah</a:t>
            </a:r>
            <a:r>
              <a:rPr lang="en-ID" sz="4100" dirty="0"/>
              <a:t> </a:t>
            </a:r>
            <a:r>
              <a:rPr lang="en-ID" sz="4100" dirty="0" err="1"/>
              <a:t>dengan</a:t>
            </a:r>
            <a:r>
              <a:rPr lang="en-ID" sz="4100" dirty="0"/>
              <a:t> </a:t>
            </a:r>
            <a:r>
              <a:rPr lang="en-ID" sz="4100" dirty="0" err="1"/>
              <a:t>jelas</a:t>
            </a:r>
            <a:r>
              <a:rPr lang="en-ID" sz="4100" dirty="0"/>
              <a:t> dan </a:t>
            </a:r>
            <a:r>
              <a:rPr lang="en-ID" sz="4100" dirty="0" err="1"/>
              <a:t>faktual</a:t>
            </a:r>
            <a:r>
              <a:rPr lang="en-ID" sz="41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4100" dirty="0" err="1"/>
              <a:t>Menganalisis</a:t>
            </a:r>
            <a:r>
              <a:rPr lang="en-ID" sz="4100" dirty="0"/>
              <a:t> </a:t>
            </a:r>
            <a:r>
              <a:rPr lang="en-ID" sz="4100" dirty="0" err="1"/>
              <a:t>penyebab</a:t>
            </a:r>
            <a:r>
              <a:rPr lang="en-ID" sz="4100" dirty="0"/>
              <a:t> </a:t>
            </a:r>
            <a:r>
              <a:rPr lang="en-ID" sz="4100" dirty="0" err="1"/>
              <a:t>utama</a:t>
            </a:r>
            <a:r>
              <a:rPr lang="en-ID" sz="4100" dirty="0"/>
              <a:t> </a:t>
            </a:r>
            <a:r>
              <a:rPr lang="en-ID" sz="4100" dirty="0" err="1"/>
              <a:t>menggunakan</a:t>
            </a:r>
            <a:r>
              <a:rPr lang="en-ID" sz="4100" dirty="0"/>
              <a:t> 5 Why’s Analysis.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4100" dirty="0" err="1"/>
              <a:t>Mengambil</a:t>
            </a:r>
            <a:r>
              <a:rPr lang="en-ID" sz="4100" dirty="0"/>
              <a:t> </a:t>
            </a:r>
            <a:r>
              <a:rPr lang="en-ID" sz="4100" dirty="0" err="1"/>
              <a:t>keputusan</a:t>
            </a:r>
            <a:r>
              <a:rPr lang="en-ID" sz="4100" dirty="0"/>
              <a:t> dan </a:t>
            </a:r>
            <a:r>
              <a:rPr lang="en-ID" sz="4100" dirty="0" err="1"/>
              <a:t>solusi</a:t>
            </a:r>
            <a:r>
              <a:rPr lang="en-ID" sz="4100" dirty="0"/>
              <a:t> </a:t>
            </a:r>
            <a:r>
              <a:rPr lang="en-ID" sz="4100" dirty="0" err="1"/>
              <a:t>berdasarkan</a:t>
            </a:r>
            <a:r>
              <a:rPr lang="en-ID" sz="4100" dirty="0"/>
              <a:t> </a:t>
            </a:r>
            <a:r>
              <a:rPr lang="en-ID" sz="4100" dirty="0" err="1"/>
              <a:t>akar</a:t>
            </a:r>
            <a:r>
              <a:rPr lang="en-ID" sz="4100" dirty="0"/>
              <a:t> </a:t>
            </a:r>
            <a:r>
              <a:rPr lang="en-ID" sz="4100" dirty="0" err="1"/>
              <a:t>penyebab</a:t>
            </a:r>
            <a:r>
              <a:rPr lang="en-ID" sz="41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D" sz="4100" dirty="0" err="1"/>
              <a:t>Mencegah</a:t>
            </a:r>
            <a:r>
              <a:rPr lang="en-ID" sz="4100" dirty="0"/>
              <a:t> </a:t>
            </a:r>
            <a:r>
              <a:rPr lang="en-ID" sz="4100" dirty="0" err="1"/>
              <a:t>masalah</a:t>
            </a:r>
            <a:r>
              <a:rPr lang="en-ID" sz="4100" dirty="0"/>
              <a:t> </a:t>
            </a:r>
            <a:r>
              <a:rPr lang="en-ID" sz="4100" dirty="0" err="1"/>
              <a:t>serupa</a:t>
            </a:r>
            <a:r>
              <a:rPr lang="en-ID" sz="4100" dirty="0"/>
              <a:t> </a:t>
            </a:r>
            <a:r>
              <a:rPr lang="en-ID" sz="4100" dirty="0" err="1"/>
              <a:t>terjadi</a:t>
            </a:r>
            <a:r>
              <a:rPr lang="en-ID" sz="4100" dirty="0"/>
              <a:t> </a:t>
            </a:r>
            <a:r>
              <a:rPr lang="en-ID" sz="4100" dirty="0" err="1"/>
              <a:t>kembali</a:t>
            </a:r>
            <a:r>
              <a:rPr lang="en-ID" sz="4100" dirty="0"/>
              <a:t>.</a:t>
            </a:r>
            <a:endParaRPr lang="en-US" sz="4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511"/>
    </mc:Choice>
    <mc:Fallback xmlns="">
      <p:transition spd="slow" advTm="335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79EA-4B51-0A9A-520A-176D2469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A45FF66-7751-646C-6CE6-218F6F0AE8A1}"/>
              </a:ext>
            </a:extLst>
          </p:cNvPr>
          <p:cNvSpPr txBox="1"/>
          <p:nvPr/>
        </p:nvSpPr>
        <p:spPr>
          <a:xfrm>
            <a:off x="914401" y="895350"/>
            <a:ext cx="16459200" cy="12118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KONSEP: APA ITU PROBLEM ANALYSIS?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0956D-66B2-6798-3EA7-9F504BD6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Autofit/>
          </a:bodyPr>
          <a:lstStyle/>
          <a:p>
            <a:r>
              <a:rPr lang="en-ID" sz="4000" b="1" dirty="0"/>
              <a:t>Symptom (</a:t>
            </a:r>
            <a:r>
              <a:rPr lang="en-ID" sz="4000" b="1" dirty="0" err="1"/>
              <a:t>Gejala</a:t>
            </a:r>
            <a:r>
              <a:rPr lang="en-ID" sz="4000" b="1" dirty="0"/>
              <a:t>)</a:t>
            </a:r>
            <a:r>
              <a:rPr lang="en-ID" sz="4000" dirty="0"/>
              <a:t>: Tanda yang </a:t>
            </a:r>
            <a:r>
              <a:rPr lang="en-ID" sz="4000" dirty="0" err="1"/>
              <a:t>tampak</a:t>
            </a:r>
            <a:r>
              <a:rPr lang="en-ID" sz="4000" dirty="0"/>
              <a:t> di </a:t>
            </a:r>
            <a:r>
              <a:rPr lang="en-ID" sz="4000" dirty="0" err="1"/>
              <a:t>permukaan</a:t>
            </a:r>
            <a:r>
              <a:rPr lang="en-ID" sz="4000" dirty="0"/>
              <a:t>.</a:t>
            </a:r>
          </a:p>
          <a:p>
            <a:r>
              <a:rPr lang="en-ID" sz="4000" b="1" dirty="0"/>
              <a:t>Problem (</a:t>
            </a:r>
            <a:r>
              <a:rPr lang="en-ID" sz="4000" b="1" dirty="0" err="1"/>
              <a:t>Masalah</a:t>
            </a:r>
            <a:r>
              <a:rPr lang="en-ID" sz="4000" b="1" dirty="0"/>
              <a:t>)</a:t>
            </a:r>
            <a:r>
              <a:rPr lang="en-ID" sz="4000" dirty="0"/>
              <a:t>: Akar </a:t>
            </a:r>
            <a:r>
              <a:rPr lang="en-ID" sz="4000" dirty="0" err="1"/>
              <a:t>penyebab</a:t>
            </a:r>
            <a:r>
              <a:rPr lang="en-ID" sz="4000" dirty="0"/>
              <a:t> di </a:t>
            </a:r>
            <a:r>
              <a:rPr lang="en-ID" sz="4000" dirty="0" err="1"/>
              <a:t>balik</a:t>
            </a:r>
            <a:r>
              <a:rPr lang="en-ID" sz="4000" dirty="0"/>
              <a:t> </a:t>
            </a:r>
            <a:r>
              <a:rPr lang="en-ID" sz="4000" dirty="0" err="1"/>
              <a:t>gejala</a:t>
            </a:r>
            <a:r>
              <a:rPr lang="en-ID" sz="4000" dirty="0"/>
              <a:t> </a:t>
            </a:r>
            <a:r>
              <a:rPr lang="en-ID" sz="4000" dirty="0" err="1"/>
              <a:t>tersebut</a:t>
            </a:r>
            <a:r>
              <a:rPr lang="en-ID" sz="4000" dirty="0"/>
              <a:t>.</a:t>
            </a:r>
            <a:endParaRPr lang="en-US" sz="4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 Analysis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Proses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berpikir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memahami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sebuah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terjadi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sekadar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yang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terlihat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Tujuannya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Mencegah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terulang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Menemukan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solusi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efisien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berkelanjutan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1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63"/>
    </mc:Choice>
    <mc:Fallback xmlns="">
      <p:transition spd="slow" advTm="4236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2C777-C9F4-6104-8F4B-FBCA9CCC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6283BAC-954F-A527-98C1-EFDE866E9143}"/>
              </a:ext>
            </a:extLst>
          </p:cNvPr>
          <p:cNvSpPr txBox="1"/>
          <p:nvPr/>
        </p:nvSpPr>
        <p:spPr>
          <a:xfrm>
            <a:off x="914401" y="895350"/>
            <a:ext cx="16459200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KONSEP DASAR: 5 WHY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C682A-2CC3-8217-54EF-39F421D5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sederhana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menemukan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bertanya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?”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berulang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kali (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sebanyak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5 kali).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Tujuan: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Mencegah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solusi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menutup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gejala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Menemukan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sistemik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personal.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Kapan </a:t>
            </a: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Saat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terjadi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insiden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kegagalan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alat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deviasi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prosedur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pekerjaan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berjalan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rencana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dll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59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949"/>
    </mc:Choice>
    <mc:Fallback xmlns="">
      <p:transition spd="slow" advTm="7894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1040-F1D3-EE91-9594-B2A5E00B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0564724-97E5-91D2-2002-F29BC16AFB8F}"/>
              </a:ext>
            </a:extLst>
          </p:cNvPr>
          <p:cNvSpPr txBox="1"/>
          <p:nvPr/>
        </p:nvSpPr>
        <p:spPr>
          <a:xfrm>
            <a:off x="914401" y="895350"/>
            <a:ext cx="16459200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LANGKAH 1: DEFINISIKAN MASALAH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6C006-C2E6-4808-B0BE-4BEE8A721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Autofit/>
          </a:bodyPr>
          <a:lstStyle/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b="1" dirty="0">
                <a:solidFill>
                  <a:srgbClr val="000000"/>
                </a:solidFill>
              </a:rPr>
              <a:t>Tujuan: </a:t>
            </a:r>
            <a:r>
              <a:rPr lang="en-US" altLang="en-US" sz="4000" dirty="0" err="1">
                <a:solidFill>
                  <a:srgbClr val="000000"/>
                </a:solidFill>
              </a:rPr>
              <a:t>Menentukan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masalah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dengan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jelas</a:t>
            </a:r>
            <a:r>
              <a:rPr lang="en-US" altLang="en-US" sz="4000" dirty="0">
                <a:solidFill>
                  <a:srgbClr val="000000"/>
                </a:solidFill>
              </a:rPr>
              <a:t> dan </a:t>
            </a:r>
            <a:r>
              <a:rPr lang="en-US" altLang="en-US" sz="4000" dirty="0" err="1">
                <a:solidFill>
                  <a:srgbClr val="000000"/>
                </a:solidFill>
              </a:rPr>
              <a:t>obyektif</a:t>
            </a:r>
            <a:r>
              <a:rPr lang="en-US" altLang="en-US" sz="4000" dirty="0">
                <a:solidFill>
                  <a:srgbClr val="000000"/>
                </a:solidFill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en-US" sz="4000" b="1" dirty="0">
              <a:solidFill>
                <a:srgbClr val="000000"/>
              </a:solidFill>
            </a:endParaRP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b="1" dirty="0">
                <a:solidFill>
                  <a:srgbClr val="000000"/>
                </a:solidFill>
              </a:rPr>
              <a:t>Langkah </a:t>
            </a:r>
            <a:r>
              <a:rPr lang="en-US" altLang="en-US" sz="4000" b="1" dirty="0" err="1">
                <a:solidFill>
                  <a:srgbClr val="000000"/>
                </a:solidFill>
              </a:rPr>
              <a:t>Praktis</a:t>
            </a:r>
            <a:r>
              <a:rPr lang="en-US" altLang="en-US" sz="4000" b="1" dirty="0">
                <a:solidFill>
                  <a:srgbClr val="000000"/>
                </a:solidFill>
              </a:rPr>
              <a:t>:</a:t>
            </a:r>
          </a:p>
          <a:p>
            <a:pPr marL="1543050" lvl="2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en-US" sz="4000" dirty="0" err="1">
                <a:solidFill>
                  <a:srgbClr val="000000"/>
                </a:solidFill>
              </a:rPr>
              <a:t>Nyatakan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dalam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satu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kalimat</a:t>
            </a:r>
            <a:r>
              <a:rPr lang="en-US" altLang="en-US" sz="4000" dirty="0">
                <a:solidFill>
                  <a:srgbClr val="000000"/>
                </a:solidFill>
              </a:rPr>
              <a:t>: “Apa yang </a:t>
            </a:r>
            <a:r>
              <a:rPr lang="en-US" altLang="en-US" sz="4000" dirty="0" err="1">
                <a:solidFill>
                  <a:srgbClr val="000000"/>
                </a:solidFill>
              </a:rPr>
              <a:t>terjadi</a:t>
            </a:r>
            <a:r>
              <a:rPr lang="en-US" altLang="en-US" sz="4000" dirty="0">
                <a:solidFill>
                  <a:srgbClr val="000000"/>
                </a:solidFill>
              </a:rPr>
              <a:t>?”</a:t>
            </a:r>
          </a:p>
          <a:p>
            <a:pPr marL="1543050" lvl="2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en-US" sz="4000" dirty="0" err="1">
                <a:solidFill>
                  <a:srgbClr val="000000"/>
                </a:solidFill>
              </a:rPr>
              <a:t>Fokus</a:t>
            </a:r>
            <a:r>
              <a:rPr lang="en-US" altLang="en-US" sz="4000" dirty="0">
                <a:solidFill>
                  <a:srgbClr val="000000"/>
                </a:solidFill>
              </a:rPr>
              <a:t> pada proses, </a:t>
            </a:r>
            <a:r>
              <a:rPr lang="en-US" altLang="en-US" sz="4000" dirty="0" err="1">
                <a:solidFill>
                  <a:srgbClr val="000000"/>
                </a:solidFill>
              </a:rPr>
              <a:t>bukan</a:t>
            </a:r>
            <a:r>
              <a:rPr lang="en-US" altLang="en-US" sz="4000" dirty="0">
                <a:solidFill>
                  <a:srgbClr val="000000"/>
                </a:solidFill>
              </a:rPr>
              <a:t> orang.</a:t>
            </a:r>
          </a:p>
          <a:p>
            <a:pPr marL="1543050" lvl="2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en-US" sz="4000" dirty="0" err="1">
                <a:solidFill>
                  <a:srgbClr val="000000"/>
                </a:solidFill>
              </a:rPr>
              <a:t>Pastikan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semua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pihak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setuju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bahwa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itu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masalahnya</a:t>
            </a:r>
            <a:r>
              <a:rPr lang="en-US" altLang="en-US" sz="4000" dirty="0">
                <a:solidFill>
                  <a:srgbClr val="000000"/>
                </a:solidFill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en-US" sz="4000" b="1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 err="1">
                <a:solidFill>
                  <a:srgbClr val="000000"/>
                </a:solidFill>
              </a:rPr>
              <a:t>Contoh</a:t>
            </a:r>
            <a:r>
              <a:rPr lang="en-US" altLang="en-US" sz="4000" b="1" dirty="0">
                <a:solidFill>
                  <a:srgbClr val="000000"/>
                </a:solidFill>
              </a:rPr>
              <a:t>: </a:t>
            </a:r>
            <a:r>
              <a:rPr lang="en-US" altLang="en-US" sz="4000" dirty="0">
                <a:solidFill>
                  <a:srgbClr val="000000"/>
                </a:solidFill>
              </a:rPr>
              <a:t>“Pompa </a:t>
            </a:r>
            <a:r>
              <a:rPr lang="en-US" altLang="en-US" sz="4000" dirty="0" err="1">
                <a:solidFill>
                  <a:srgbClr val="000000"/>
                </a:solidFill>
              </a:rPr>
              <a:t>pendingin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berhenti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mendadak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saat</a:t>
            </a:r>
            <a:r>
              <a:rPr lang="en-US" altLang="en-US" sz="4000" dirty="0">
                <a:solidFill>
                  <a:srgbClr val="000000"/>
                </a:solidFill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</a:rPr>
              <a:t>operasi</a:t>
            </a:r>
            <a:r>
              <a:rPr lang="en-US" altLang="en-US" sz="4000" dirty="0">
                <a:solidFill>
                  <a:srgbClr val="000000"/>
                </a:solidFill>
              </a:rPr>
              <a:t>.”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5850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949"/>
    </mc:Choice>
    <mc:Fallback xmlns="">
      <p:transition spd="slow" advTm="7894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C8FB-1F66-342B-51D8-24510208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2C4B167-5231-3B9A-4E61-55473DE06ECF}"/>
              </a:ext>
            </a:extLst>
          </p:cNvPr>
          <p:cNvSpPr txBox="1"/>
          <p:nvPr/>
        </p:nvSpPr>
        <p:spPr>
          <a:xfrm>
            <a:off x="914401" y="895350"/>
            <a:ext cx="16459200" cy="1179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LANGKAH 2: PERTANYAAN MENGAPA?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34B17-D630-E5F5-CBD6-AFCDF8E06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D" sz="4000" b="1" dirty="0"/>
              <a:t>Tujuan:</a:t>
            </a:r>
            <a:r>
              <a:rPr lang="en-ID" sz="4000" dirty="0"/>
              <a:t> Menemukan </a:t>
            </a:r>
            <a:r>
              <a:rPr lang="en-ID" sz="4000" dirty="0" err="1"/>
              <a:t>hubungan</a:t>
            </a:r>
            <a:r>
              <a:rPr lang="en-ID" sz="4000" dirty="0"/>
              <a:t> </a:t>
            </a:r>
            <a:r>
              <a:rPr lang="en-ID" sz="4000" dirty="0" err="1"/>
              <a:t>sebab-akibat</a:t>
            </a:r>
            <a:r>
              <a:rPr lang="en-ID" sz="4000" dirty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ID" sz="4000" b="1" dirty="0"/>
              <a:t>Langkah </a:t>
            </a:r>
            <a:r>
              <a:rPr lang="en-ID" sz="4000" b="1" dirty="0" err="1"/>
              <a:t>Praktis</a:t>
            </a:r>
            <a:r>
              <a:rPr lang="en-ID" sz="4000" b="1" dirty="0"/>
              <a:t>:</a:t>
            </a:r>
          </a:p>
          <a:p>
            <a:pPr marL="1543050" lvl="2" indent="-742950">
              <a:buFont typeface="+mj-lt"/>
              <a:buAutoNum type="alphaLcPeriod"/>
            </a:pPr>
            <a:r>
              <a:rPr lang="en-ID" sz="4000" dirty="0" err="1"/>
              <a:t>Tanyakan</a:t>
            </a:r>
            <a:r>
              <a:rPr lang="en-ID" sz="4000" dirty="0"/>
              <a:t> “</a:t>
            </a:r>
            <a:r>
              <a:rPr lang="en-ID" sz="4000" dirty="0" err="1"/>
              <a:t>Mengapa</a:t>
            </a:r>
            <a:r>
              <a:rPr lang="en-ID" sz="4000" dirty="0"/>
              <a:t> </a:t>
            </a:r>
            <a:r>
              <a:rPr lang="en-ID" sz="4000" dirty="0" err="1"/>
              <a:t>itu</a:t>
            </a:r>
            <a:r>
              <a:rPr lang="en-ID" sz="4000" dirty="0"/>
              <a:t> </a:t>
            </a:r>
            <a:r>
              <a:rPr lang="en-ID" sz="4000" dirty="0" err="1"/>
              <a:t>terjadi</a:t>
            </a:r>
            <a:r>
              <a:rPr lang="en-ID" sz="4000" dirty="0"/>
              <a:t>?”</a:t>
            </a:r>
          </a:p>
          <a:p>
            <a:pPr marL="1543050" lvl="2" indent="-742950">
              <a:buFont typeface="+mj-lt"/>
              <a:buAutoNum type="alphaLcPeriod"/>
            </a:pPr>
            <a:r>
              <a:rPr lang="en-ID" sz="4000" dirty="0"/>
              <a:t>Catat </a:t>
            </a:r>
            <a:r>
              <a:rPr lang="en-ID" sz="4000" dirty="0" err="1"/>
              <a:t>setiap</a:t>
            </a:r>
            <a:r>
              <a:rPr lang="en-ID" sz="4000" dirty="0"/>
              <a:t> </a:t>
            </a:r>
            <a:r>
              <a:rPr lang="en-ID" sz="4000" dirty="0" err="1"/>
              <a:t>jawaban</a:t>
            </a:r>
            <a:r>
              <a:rPr lang="en-ID" sz="4000" dirty="0"/>
              <a:t> </a:t>
            </a:r>
            <a:r>
              <a:rPr lang="en-ID" sz="4000" dirty="0" err="1"/>
              <a:t>secara</a:t>
            </a:r>
            <a:r>
              <a:rPr lang="en-ID" sz="4000" dirty="0"/>
              <a:t> </a:t>
            </a:r>
            <a:r>
              <a:rPr lang="en-ID" sz="4000" dirty="0" err="1"/>
              <a:t>berurutan</a:t>
            </a:r>
            <a:r>
              <a:rPr lang="en-ID" sz="4000" dirty="0"/>
              <a:t>.</a:t>
            </a:r>
          </a:p>
          <a:p>
            <a:pPr marL="1543050" lvl="2" indent="-742950">
              <a:buFont typeface="+mj-lt"/>
              <a:buAutoNum type="alphaLcPeriod"/>
            </a:pPr>
            <a:r>
              <a:rPr lang="en-ID" sz="4000" dirty="0" err="1"/>
              <a:t>Setiap</a:t>
            </a:r>
            <a:r>
              <a:rPr lang="en-ID" sz="4000" dirty="0"/>
              <a:t> </a:t>
            </a:r>
            <a:r>
              <a:rPr lang="en-ID" sz="4000" dirty="0" err="1"/>
              <a:t>jawaban</a:t>
            </a:r>
            <a:r>
              <a:rPr lang="en-ID" sz="4000" dirty="0"/>
              <a:t> </a:t>
            </a:r>
            <a:r>
              <a:rPr lang="en-ID" sz="4000" dirty="0" err="1"/>
              <a:t>menjadi</a:t>
            </a:r>
            <a:r>
              <a:rPr lang="en-ID" sz="4000" dirty="0"/>
              <a:t> </a:t>
            </a:r>
            <a:r>
              <a:rPr lang="en-ID" sz="4000" dirty="0" err="1"/>
              <a:t>dasar</a:t>
            </a:r>
            <a:r>
              <a:rPr lang="en-ID" sz="4000" dirty="0"/>
              <a:t> “</a:t>
            </a:r>
            <a:r>
              <a:rPr lang="en-ID" sz="4000" dirty="0" err="1"/>
              <a:t>mengapa</a:t>
            </a:r>
            <a:r>
              <a:rPr lang="en-ID" sz="4000" dirty="0"/>
              <a:t>” </a:t>
            </a:r>
            <a:r>
              <a:rPr lang="en-ID" sz="4000" dirty="0" err="1"/>
              <a:t>berikutnya</a:t>
            </a:r>
            <a:r>
              <a:rPr lang="en-ID" sz="4000" dirty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ID" sz="4000" b="1" dirty="0" err="1"/>
              <a:t>Contoh</a:t>
            </a:r>
            <a:r>
              <a:rPr lang="en-ID" sz="4000" b="1" dirty="0"/>
              <a:t>:</a:t>
            </a:r>
          </a:p>
          <a:p>
            <a:pPr marL="1543050" lvl="2" indent="-742950">
              <a:buFont typeface="+mj-lt"/>
              <a:buAutoNum type="alphaLcPeriod"/>
            </a:pPr>
            <a:r>
              <a:rPr lang="en-ID" sz="4000" dirty="0"/>
              <a:t>Pompa </a:t>
            </a:r>
            <a:r>
              <a:rPr lang="en-ID" sz="4000" dirty="0" err="1"/>
              <a:t>berhenti</a:t>
            </a:r>
            <a:r>
              <a:rPr lang="en-ID" sz="4000" dirty="0"/>
              <a:t> → </a:t>
            </a:r>
            <a:r>
              <a:rPr lang="en-ID" sz="4000" dirty="0" err="1"/>
              <a:t>Mengapa</a:t>
            </a:r>
            <a:r>
              <a:rPr lang="en-ID" sz="4000" dirty="0"/>
              <a:t>? → Motor </a:t>
            </a:r>
            <a:r>
              <a:rPr lang="en-ID" sz="4000" dirty="0" err="1"/>
              <a:t>panas</a:t>
            </a:r>
            <a:r>
              <a:rPr lang="en-ID" sz="4000" dirty="0"/>
              <a:t>.</a:t>
            </a:r>
          </a:p>
          <a:p>
            <a:pPr marL="1543050" lvl="2" indent="-742950">
              <a:buFont typeface="+mj-lt"/>
              <a:buAutoNum type="alphaLcPeriod"/>
            </a:pPr>
            <a:r>
              <a:rPr lang="en-ID" sz="4000" dirty="0"/>
              <a:t>Motor </a:t>
            </a:r>
            <a:r>
              <a:rPr lang="en-ID" sz="4000" dirty="0" err="1"/>
              <a:t>panas</a:t>
            </a:r>
            <a:r>
              <a:rPr lang="en-ID" sz="4000" dirty="0"/>
              <a:t> → </a:t>
            </a:r>
            <a:r>
              <a:rPr lang="en-ID" sz="4000" dirty="0" err="1"/>
              <a:t>Mengapa</a:t>
            </a:r>
            <a:r>
              <a:rPr lang="en-ID" sz="4000" dirty="0"/>
              <a:t>? → </a:t>
            </a:r>
            <a:r>
              <a:rPr lang="en-ID" sz="4000" dirty="0" err="1"/>
              <a:t>Pendinginan</a:t>
            </a:r>
            <a:r>
              <a:rPr lang="en-ID" sz="4000" dirty="0"/>
              <a:t> </a:t>
            </a:r>
            <a:r>
              <a:rPr lang="en-ID" sz="4000" dirty="0" err="1"/>
              <a:t>tidak</a:t>
            </a:r>
            <a:r>
              <a:rPr lang="en-ID" sz="4000" dirty="0"/>
              <a:t> </a:t>
            </a:r>
            <a:r>
              <a:rPr lang="en-ID" sz="4000" dirty="0" err="1"/>
              <a:t>bekerja</a:t>
            </a:r>
            <a:r>
              <a:rPr lang="en-ID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854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24"/>
    </mc:Choice>
    <mc:Fallback xmlns="">
      <p:transition spd="slow" advTm="851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C251-3B00-CC8F-31B8-98C90F60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8B70112-8512-8E94-DEE0-FCE0DF802281}"/>
              </a:ext>
            </a:extLst>
          </p:cNvPr>
          <p:cNvSpPr txBox="1"/>
          <p:nvPr/>
        </p:nvSpPr>
        <p:spPr>
          <a:xfrm>
            <a:off x="914401" y="895350"/>
            <a:ext cx="16459200" cy="2154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LANGKAH 3: ULANGI HINGGA AKAR MASALAH DITEMUKAN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C6525-5EC1-A7E5-20B3-2AF99E6A1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Tujuan: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Menggali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sampai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paling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Pompa </a:t>
            </a: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berhenti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4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Motor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panas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Motor </a:t>
            </a: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panas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4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Pendinginan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gagal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Pendinginan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gagal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4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Filter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tersumbat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 </a:t>
            </a: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tersumbat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4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Tidak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dibersihkan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rutin.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 </a:t>
            </a: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dibersihkan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4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Jadwal maintenance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dijalankan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 </a:t>
            </a: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Jadwal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dilaksanakan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11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24"/>
    </mc:Choice>
    <mc:Fallback xmlns="">
      <p:transition spd="slow" advTm="8512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E46E-2F21-E666-791A-049D43F9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6756F98-8EA5-6988-8051-7429E21214FB}"/>
              </a:ext>
            </a:extLst>
          </p:cNvPr>
          <p:cNvSpPr txBox="1"/>
          <p:nvPr/>
        </p:nvSpPr>
        <p:spPr>
          <a:xfrm>
            <a:off x="914401" y="895350"/>
            <a:ext cx="16459200" cy="1179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LANGKAH 4: VALIDASI TEMUAN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5BE11-97D0-77E2-D883-3479A00E1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Tujuan: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Memastikan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ditemukan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benar-benar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Cek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pertanyaan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samping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hilang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diperbaiki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berada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kendali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3893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24"/>
    </mc:Choice>
    <mc:Fallback xmlns="">
      <p:transition spd="slow" advTm="8512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CC58-067F-352E-FFBB-296293C9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DDE5C24-B8B5-612D-2A14-F04819901E4E}"/>
              </a:ext>
            </a:extLst>
          </p:cNvPr>
          <p:cNvSpPr txBox="1"/>
          <p:nvPr/>
        </p:nvSpPr>
        <p:spPr>
          <a:xfrm>
            <a:off x="914401" y="895350"/>
            <a:ext cx="16459200" cy="1179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LANGKAH 5: TENTUKAN SOLUSI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DB2D2-AE25-55AD-F3EA-B47B143E5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Tujuan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tindakan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menghilangkan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Ciri Solusi </a:t>
            </a:r>
            <a:r>
              <a:rPr lang="en-US" altLang="en-US" sz="3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Efektif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Fokus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individu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Realistis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diterapkan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lapangan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Bisa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mencegah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berulang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Solusi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Menetapkan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checklist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harian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verifikasi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cleaning filter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setiap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pergantian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shift.</a:t>
            </a:r>
          </a:p>
        </p:txBody>
      </p:sp>
    </p:spTree>
    <p:extLst>
      <p:ext uri="{BB962C8B-B14F-4D97-AF65-F5344CB8AC3E}">
        <p14:creationId xmlns:p14="http://schemas.microsoft.com/office/powerpoint/2010/main" val="215270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24"/>
    </mc:Choice>
    <mc:Fallback xmlns="">
      <p:transition spd="slow" advTm="8512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3791-68AF-F7E0-9EF0-F4750BAE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ADEFB09-9927-BC54-05FE-F25EF5D18A24}"/>
              </a:ext>
            </a:extLst>
          </p:cNvPr>
          <p:cNvSpPr txBox="1"/>
          <p:nvPr/>
        </p:nvSpPr>
        <p:spPr>
          <a:xfrm>
            <a:off x="914401" y="895350"/>
            <a:ext cx="16459200" cy="1179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LANGKAH 6: DOKUMENTASI &amp; KOMUNIKASI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9760B-EF3B-F9D4-7108-06CD947F5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Tujuan: 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Agar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lain.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36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Langkah: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Catat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Bagikan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meeting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logbook.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Gunakan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pekerjaan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berikutnya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628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24"/>
    </mc:Choice>
    <mc:Fallback xmlns="">
      <p:transition spd="slow" advTm="8512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F3DD-438A-2190-12DE-81027B80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86D1D5D-16A1-4C4E-095B-4FF5056CB9E6}"/>
              </a:ext>
            </a:extLst>
          </p:cNvPr>
          <p:cNvSpPr txBox="1"/>
          <p:nvPr/>
        </p:nvSpPr>
        <p:spPr>
          <a:xfrm>
            <a:off x="914401" y="895350"/>
            <a:ext cx="16459200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STUDI KASUS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35192-83D5-8E2F-8614-CD7F309E4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Kejadian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Selama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proses ballast, alarm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tekanan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muncul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pendingin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Dampak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kapal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berhenti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selama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Suhu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ruang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mesin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meningkat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Pertanyaan</a:t>
            </a: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Apa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penyebabnya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memperbaikinya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62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742"/>
    </mc:Choice>
    <mc:Fallback xmlns="">
      <p:transition spd="slow" advTm="4374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5549-D12D-19A8-F9E4-97532581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8AB0AC0-B47D-9C92-2953-4C2AE55F3043}"/>
              </a:ext>
            </a:extLst>
          </p:cNvPr>
          <p:cNvSpPr txBox="1"/>
          <p:nvPr/>
        </p:nvSpPr>
        <p:spPr>
          <a:xfrm>
            <a:off x="914401" y="895350"/>
            <a:ext cx="16459200" cy="2154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PEMECAHAN MASALAH:</a:t>
            </a:r>
          </a:p>
          <a:p>
            <a:pPr algn="ctr">
              <a:spcBef>
                <a:spcPct val="0"/>
              </a:spcBef>
            </a:pPr>
            <a:r>
              <a:rPr lang="en-US" sz="6999" b="1" dirty="0">
                <a:solidFill>
                  <a:srgbClr val="00B05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PENERAPAN 5 WHY’S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FF9E4-A975-DF5F-B36E-DA7918C13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Autofit/>
          </a:bodyPr>
          <a:lstStyle/>
          <a:p>
            <a:pPr marL="51435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Alarm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muncul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altLang="en-US" sz="36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Tekanan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air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pendingin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turun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Tekanan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turun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altLang="en-US" sz="36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Pompa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sirkulasi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optimal.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Pompa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optimal → </a:t>
            </a:r>
            <a:r>
              <a:rPr lang="en-US" altLang="en-US" sz="36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Impeller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kotor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Impeller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kotor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altLang="en-US" sz="36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Tidak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dibersihkan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dibersihkan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altLang="en-US" sz="36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Mengapa</a:t>
            </a:r>
            <a:r>
              <a:rPr lang="en-US" altLang="en-US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Jadwal cleaning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dijalankan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belum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paham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SOP.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 </a:t>
            </a:r>
            <a:r>
              <a:rPr lang="en-US" altLang="en-US" sz="3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Kurangnya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sosialisasi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SOP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kepada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Lakukan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refresh SOP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baru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Tambahkan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tanda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verifikasi</a:t>
            </a:r>
            <a:r>
              <a:rPr lang="en-US" alt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cleaning di log sheet.</a:t>
            </a: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11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502"/>
    </mc:Choice>
    <mc:Fallback xmlns="">
      <p:transition spd="slow" advTm="5050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FB22D-A206-7EA3-D73F-852A29FC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54C0FF2-C01D-3958-84A7-4602BE45C12B}"/>
              </a:ext>
            </a:extLst>
          </p:cNvPr>
          <p:cNvSpPr txBox="1"/>
          <p:nvPr/>
        </p:nvSpPr>
        <p:spPr>
          <a:xfrm>
            <a:off x="914401" y="895350"/>
            <a:ext cx="16459200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FF0000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PENUTUP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7FEA42-0430-5FB2-A142-733946EDC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62300"/>
            <a:ext cx="16611600" cy="6629400"/>
          </a:xfrm>
        </p:spPr>
        <p:txBody>
          <a:bodyPr>
            <a:norm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berulang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penyebab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belum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ditemukan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Why’s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membantu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berpikir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logis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objektif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Fokus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perbaikan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menyalahkan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individu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Setiap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peluang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belajar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en-US" sz="4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Perwira yang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baik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memadamkan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tapi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memastikan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sama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muncul</a:t>
            </a:r>
            <a:r>
              <a:rPr lang="en-US" altLang="en-US" sz="4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40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lagi</a:t>
            </a:r>
            <a:r>
              <a:rPr lang="en-US" altLang="en-US" sz="4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.”</a:t>
            </a:r>
            <a:endParaRPr lang="en-US" altLang="en-US" sz="4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14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19"/>
    </mc:Choice>
    <mc:Fallback xmlns="">
      <p:transition spd="slow" advTm="3591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1336</Words>
  <Application>Microsoft Macintosh PowerPoint</Application>
  <PresentationFormat>Custom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</dc:title>
  <cp:lastModifiedBy>Michael</cp:lastModifiedBy>
  <cp:revision>22</cp:revision>
  <dcterms:created xsi:type="dcterms:W3CDTF">2006-08-16T00:00:00Z</dcterms:created>
  <dcterms:modified xsi:type="dcterms:W3CDTF">2025-10-22T04:09:19Z</dcterms:modified>
  <dc:identifier>DAG11B1kDy8</dc:identifier>
</cp:coreProperties>
</file>