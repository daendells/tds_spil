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lang="id-ID" dirty="0" typeface="Calibri">
                <a:solidFill>
                  <a:srgbClr val="212121"/>
                </a:solidFill>
                <a:latin typeface="Calibri"/>
              </a:rPr>
              <a:rPr sz="4400" b="1"/>
              <a:t>Membangun Kepercayaan: Kunci Sukses dalam Komunikasi Efektif</a:t>
            </a:r>
          </a:p>
        </p:txBody>
      </p:sp>
      <p:sp>
        <p:nvSpPr>
          <p:cNvPr id="0" name=""/>
          <p:cNvSpPr txBox="1"/>
          <p:nvPr/>
        </p:nvSpPr>
        <p:spPr>
          <a:xfrm>
            <a:off x="457200" y="3474720"/>
            <a:ext cx="8229600" cy="2743200"/>
          </a:xfrm>
          <a:prstGeom prst="rect"/>
        </p:spPr>
        <p:txBody>
          <a:bodyPr wrap="square">
            <a:spAutoFit/>
          </a:bodyPr>
          <a:p>
            <a:r>
              <a:rPr lang="id-ID" dirty="0" typeface="Calibri">
                <a:solidFill>
                  <a:srgbClr val="212121"/>
                </a:solidFill>
                <a:latin typeface="Calibri"/>
              </a:rPr>
              <a:rPr sz="1800"/>
              <a:t>Durasi: 75 menit | Audiens: Staf dan manajer level awal</a:t>
            </a:r>
          </a:p>
          <a:p/>
          <a:p>
            <a:r>
              <a:rPr lang="id-ID" dirty="0" b="1" typeface="Calibri">
                <a:solidFill>
                  <a:srgbClr val="4CAF50"/>
                </a:solidFill>
                <a:latin typeface="Calibri"/>
              </a:rPr>
              <a:rPr sz="1800" b="1"/>
              <a:t>Tujuan Pembelajaran:</a:t>
            </a:r>
          </a:p>
          <a:p>
            <a:r>
              <a:rPr lang="id-ID" dirty="0" b="1" typeface="Calibri">
                <a:solidFill>
                  <a:srgbClr val="212121"/>
                </a:solidFill>
                <a:latin typeface="Calibri"/>
              </a:rPr>
              <a:rPr sz="1600"/>
              <a:t>• Mengembangkan kemampuan membangun kepercayaan</a:t>
            </a:r>
          </a:p>
          <a:p>
            <a:r>
              <a:rPr lang="id-ID" dirty="0" b="1" typeface="Calibri">
                <a:solidFill>
                  <a:srgbClr val="212121"/>
                </a:solidFill>
                <a:latin typeface="Calibri"/>
              </a:rPr>
              <a:rPr sz="1600"/>
              <a:t>• Meningkatkan efektivitas komunikasi</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OBJECTIVE: TUJUAN PEMBELAJARAN</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600"/>
              <a:t>Mengerti pentingnya kepercayaan dalam komunikasi</a:t>
            </a:r>
          </a:p>
          <a:p>
            <a:r>
              <a:rPr lang="id-ID" dirty="0" typeface="Calibri">
                <a:solidFill>
                  <a:srgbClr val="212121"/>
                </a:solidFill>
                <a:latin typeface="Calibri"/>
              </a:rPr>
              <a:rPr sz="1600"/>
              <a:t>Memahami konsep dasar membangun kepercayaan</a:t>
            </a:r>
          </a:p>
          <a:p>
            <a:r>
              <a:rPr lang="id-ID" dirty="0" typeface="Calibri">
                <a:solidFill>
                  <a:srgbClr val="212121"/>
                </a:solidFill>
                <a:latin typeface="Calibri"/>
              </a:rPr>
              <a:rPr sz="1600"/>
              <a:t>Mengembangkan kemampuan untuk membangun kepercayaan dengan rekan kerja</a:t>
            </a:r>
          </a:p>
          <a:p>
            <a:r>
              <a:rPr lang="id-ID" dirty="0" b="1" typeface="Calibri">
                <a:solidFill>
                  <a:srgbClr val="212121"/>
                </a:solidFill>
                <a:latin typeface="Calibri"/>
              </a:rPr>
              <a:rPr sz="1600"/>
              <a:t>• Mengidentifikasi karakteristik kepercayaan</a:t>
            </a:r>
          </a:p>
          <a:p>
            <a:r>
              <a:rPr lang="id-ID" dirty="0" b="1" typeface="Calibri">
                <a:solidFill>
                  <a:srgbClr val="D32F2F"/>
                </a:solidFill>
                <a:latin typeface="Calibri"/>
              </a:rPr>
              <a:rPr sz="1600"/>
              <a:t>Kepercayaan memiliki beberapa karakteristik utama, yaitu integritas, kompetensi, dan kemampuan untuk memenuhi komitmen. Integritas berarti konsisten dalam perkataan dan perbuatan, kompetensi berarti memiliki kemampuan yang diperlukan untuk melakukan pekerjaan, dan kemampuan memenuhi komitmen berarti dapat diandalkan untuk menyelesaikan tugas.</a:t>
            </a:r>
          </a:p>
          <a:p>
            <a:r>
              <a:rPr lang="id-ID" dirty="0" b="1" typeface="Calibri">
                <a:solidFill>
                  <a:srgbClr val="212121"/>
                </a:solidFill>
                <a:latin typeface="Calibri"/>
              </a:rPr>
              <a:rPr sz="1600"/>
              <a:t>• Membangun kepercayaan melalui komunikasi efektif</a:t>
            </a:r>
          </a:p>
          <a:p>
            <a:r>
              <a:rPr lang="id-ID" dirty="0" typeface="Calibri">
                <a:solidFill>
                  <a:srgbClr val="212121"/>
                </a:solidFill>
                <a:latin typeface="Calibri"/>
              </a:rPr>
              <a:rPr sz="1600"/>
              <a:t>Komunikasi efektif adalah kunci membangun kepercayaan. Ini berarti mendengarkan aktif, memberikan umpan balik yang konstruktif, dan menyampaikan pesan dengan jelas dan transparan. Dengan demikian, kita dapat membangun pemahaman yang lebih baik dan mengurangi kesalahpahaman.</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KONSEP: MEMBANGUN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Definisi Kepercayaan</a:t>
            </a:r>
          </a:p>
          <a:p>
            <a:r>
              <a:rPr lang="id-ID" dirty="0" b="1" typeface="Calibri">
                <a:solidFill>
                  <a:srgbClr val="D32F2F"/>
                </a:solidFill>
                <a:latin typeface="Calibri"/>
              </a:rPr>
              <a:rPr sz="1600"/>
              <a:t>Kepercayaan adalah keyakinan bahwa seseorang atau sesuatu dapat diandalkan dan memiliki kemampuan untuk memenuhi harapan. Dalam konteks kerja, kepercayaan sangat penting karena mempengaruhi kemampuan tim untuk bekerja sama dan mencapai tujuan.</a:t>
            </a:r>
          </a:p>
          <a:p>
            <a:r>
              <a:rPr lang="id-ID" dirty="0" b="1" typeface="Calibri">
                <a:solidFill>
                  <a:srgbClr val="212121"/>
                </a:solidFill>
                <a:latin typeface="Calibri"/>
              </a:rPr>
              <a:rPr sz="1600"/>
              <a:t>• Faktor-faktor yang Mempengaruhi Kepercayaan</a:t>
            </a:r>
          </a:p>
          <a:p>
            <a:r>
              <a:rPr lang="id-ID" dirty="0" typeface="Calibri">
                <a:solidFill>
                  <a:srgbClr val="212121"/>
                </a:solidFill>
                <a:latin typeface="Calibri"/>
              </a:rPr>
              <a:rPr sz="1600"/>
              <a:t>Beberapa faktor yang mempengaruhi kepercayaan adalah integritas, kompetensi, dan konsistensi. Integritas berarti melakukan apa yang dikatakan, kompetensi berarti memiliki kemampuan yang diperlukan, dan konsistensi berarti selalu melakukan hal yang sama dengan kualitas yang sama.</a:t>
            </a:r>
          </a:p>
          <a:p>
            <a:r>
              <a:rPr lang="id-ID" dirty="0" b="1" typeface="Calibri">
                <a:solidFill>
                  <a:srgbClr val="212121"/>
                </a:solidFill>
                <a:latin typeface="Calibri"/>
              </a:rPr>
              <a:rPr sz="1600"/>
              <a:t>• Cara Membangun Kepercayaan</a:t>
            </a:r>
          </a:p>
          <a:p>
            <a:r>
              <a:rPr lang="id-ID" dirty="0" typeface="Calibri">
                <a:solidFill>
                  <a:srgbClr val="212121"/>
                </a:solidFill>
                <a:latin typeface="Calibri"/>
              </a:rPr>
              <a:rPr sz="1600"/>
              <a:t>Membangun kepercayaan memerlukan waktu dan usaha. Ini dapat dilakukan dengan menjadi konsisten dalam perkataan dan perbuatan, memenuhi komitmen, dan menyampaikan informasi dengan transparan. Selain itu, mendengarkan aktif dan memberikan umpan balik yang konstruktif juga sangat penting.</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LANGKAH: MEMBANGUN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4CAF50"/>
                </a:solidFill>
                <a:latin typeface="Calibri"/>
              </a:rPr>
              <a:rPr sz="1600"/>
              <a:t>Langkah 1: Menjadi Konsisten</a:t>
            </a:r>
          </a:p>
          <a:p>
            <a:r>
              <a:rPr lang="id-ID" dirty="0" b="1" typeface="Calibri">
                <a:solidFill>
                  <a:srgbClr val="4CAF50"/>
                </a:solidFill>
                <a:latin typeface="Calibri"/>
              </a:rPr>
              <a:rPr sz="1600"/>
              <a:t>Menjadi konsisten dalam perkataan dan perbuatan adalah langkah pertama membangun kepercayaan. Ini berarti melakukan apa yang dikatakan dan memenuhi komitmen.</a:t>
            </a:r>
          </a:p>
          <a:p>
            <a:r>
              <a:rPr lang="id-ID" dirty="0" b="1" typeface="Calibri">
                <a:solidFill>
                  <a:srgbClr val="4CAF50"/>
                </a:solidFill>
                <a:latin typeface="Calibri"/>
              </a:rPr>
              <a:rPr sz="1600"/>
              <a:t>• Langkah 2: Memenuhi Komitmen</a:t>
            </a:r>
          </a:p>
          <a:p>
            <a:r>
              <a:rPr lang="id-ID" dirty="0" b="1" typeface="Calibri">
                <a:solidFill>
                  <a:srgbClr val="4CAF50"/>
                </a:solidFill>
                <a:latin typeface="Calibri"/>
              </a:rPr>
              <a:rPr sz="1600"/>
              <a:t>Memenuhi komitmen adalah langkah kedua membangun kepercayaan. Ini berarti menyelesaikan tugas dan memenuhi deadline.</a:t>
            </a:r>
          </a:p>
          <a:p>
            <a:r>
              <a:rPr lang="id-ID" dirty="0" b="1" typeface="Calibri">
                <a:solidFill>
                  <a:srgbClr val="4CAF50"/>
                </a:solidFill>
                <a:latin typeface="Calibri"/>
              </a:rPr>
              <a:rPr sz="1600"/>
              <a:t>• Langkah 3: Menyampaikan Informasi dengan Transparan</a:t>
            </a:r>
          </a:p>
          <a:p>
            <a:r>
              <a:rPr lang="id-ID" dirty="0" b="1" typeface="Calibri">
                <a:solidFill>
                  <a:srgbClr val="4CAF50"/>
                </a:solidFill>
                <a:latin typeface="Calibri"/>
              </a:rPr>
              <a:rPr sz="1600"/>
              <a:t>Menyampaikan informasi dengan transparan adalah langkah ketiga membangun kepercayaan. Ini berarti menyampaikan informasi yang akurat dan lengkap, serta memberikan umpan balik yang konstruktif.</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STUDI KASUS: MEMBANGUN KEPERCAYAAN DI TEMPAT KERJA</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600"/>
              <a:t>Kasus: Membangun Kepercayaan antara Manajer dan Staf</a:t>
            </a:r>
          </a:p>
          <a:p>
            <a:r>
              <a:rPr lang="id-ID" dirty="0" typeface="Calibri">
                <a:solidFill>
                  <a:srgbClr val="212121"/>
                </a:solidFill>
                <a:latin typeface="Calibri"/>
              </a:rPr>
              <a:rPr sz="1600"/>
              <a:t>Dalam sebuah perusahaan, manajer dan staf memiliki hubungan yang kurang baik karena kurangnya kepercayaan. Manajer merasa bahwa staf tidak kompeten, sedangkan staf merasa bahwa manajer tidak peduli dengan mereka.</a:t>
            </a:r>
          </a:p>
          <a:p>
            <a:r>
              <a:rPr lang="id-ID" dirty="0" b="1" typeface="Calibri">
                <a:solidFill>
                  <a:srgbClr val="212121"/>
                </a:solidFill>
                <a:latin typeface="Calibri"/>
              </a:rPr>
              <a:rPr sz="1600"/>
              <a:t>• Solusi: Membangun Kepercayaan melalui Komunikasi Efektif</a:t>
            </a:r>
          </a:p>
          <a:p>
            <a:r>
              <a:rPr lang="id-ID" dirty="0" typeface="Calibri">
                <a:solidFill>
                  <a:srgbClr val="212121"/>
                </a:solidFill>
                <a:latin typeface="Calibri"/>
              </a:rPr>
              <a:rPr sz="1600"/>
              <a:t>Manajer dan staf memutuskan untuk membangun kepercayaan melalui komunikasi efektif. Mereka mulai dengan mendengarkan aktif dan memberikan umpan balik yang konstruktif. Mereka juga menyampaikan informasi dengan transparan dan memenuhi komitmen.</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Aktivitas &amp; Latihan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4CAF50"/>
                </a:solidFill>
                <a:latin typeface="Calibri"/>
              </a:rPr>
              <a:rPr sz="1800" b="1"/>
              <a:t>1. Aktivitas: Membangun Kepercayaan (15 menit)</a:t>
            </a:r>
          </a:p>
          <a:p>
            <a:r>
              <a:rPr lang="id-ID" dirty="0" typeface="Calibri">
                <a:solidFill>
                  <a:srgbClr val="212121"/>
                </a:solidFill>
                <a:latin typeface="Calibri"/>
              </a:rPr>
              <a:rPr sz="1500"/>
              <a:t xml:space="preserve">   Peserta diminta untuk berdiskusi dalam kelompok tentang cara membangun kepercayaan di tempat kerja</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Assessment &amp; Evaluasi</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500" b="1"/>
              <a:t>Q1: Apa yang dimaksud dengan kepercayaan?</a:t>
            </a:r>
          </a:p>
          <a:p>
            <a:r>
              <a:rPr lang="id-ID" dirty="0" b="1" typeface="Calibri">
                <a:solidFill>
                  <a:srgbClr val="D32F2F"/>
                </a:solidFill>
                <a:latin typeface="Calibri"/>
              </a:rPr>
              <a:rPr sz="1400"/>
              <a:t>A: Kepercayaan adalah keyakinan bahwa seseorang atau sesuatu dapat diandalkan dan memiliki kemampuan untuk memenuhi harapan.</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