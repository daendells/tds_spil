
<file path=[Content_Types].xml><?xml version="1.0" encoding="utf-8"?>
<Types xmlns="http://schemas.openxmlformats.org/package/2006/content-types" xmlns:xml="http://www.w3.org/XML/1998/namespace">
  <Default Extension="xml" ContentType="application/xml"/>
  <Default Extension="rels" ContentType="application/vnd.openxmlformats-package.relationships+xml"/>
  <Default Extension="png" ContentType="image/png"/>
  <Default Extension="jpeg" ContentType="image/jpeg"/>
  <Default Extension="jpg" ContentType="image/jpeg"/>
  <Default Extension="wmf" ContentType="image/x-wmf"/>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theme+xml" PartName="/ppt/theme/theme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Types>
</file>

<file path=_rels/.rels><?xml version="1.0" encoding="UTF-8" standalone="yes"?>
<Relationships xmlns="http://schemas.openxmlformats.org/package/2006/relationships" xmlns:xml="http://www.w3.org/XML/1998/namespace"><Relationship Target="docProps/core.xml" Type="http://schemas.openxmlformats.org/package/2006/relationships/metadata/core-properties" Id="rId1"/><Relationship Target="docProps/app.xml" Type="http://schemas.openxmlformats.org/officeDocument/2006/relationships/extended-properties" Id="rId2"/><Relationship Target="ppt/presentation.xml" Type="http://schemas.openxmlformats.org/officeDocument/2006/relationships/officeDocument" Id="rId3"/><Relationship Target="ppt/presProps.xml" Type="http://schemas.openxmlformats.org/officeDocument/2006/relationships/presProps" Id="rId4"/><Relationship Target="ppt/viewProps.xml" Type="http://schemas.openxmlformats.org/officeDocument/2006/relationships/viewProps" Id="rId5"/><Relationship Target="ppt/tableStyles.xml" Type="http://schemas.openxmlformats.org/officeDocument/2006/relationships/tableStyles" Id="rId6"/></Relationships>

</file>

<file path=ppt/presentation.xml><?xml version="1.0" encoding="utf-8"?>
<p:presentation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conformance="transitional">
  <p:sldMasterIdLst>
    <p:sldMasterId id="2147483648" r:id="rId1"/>
  </p:sldMasterIdLst>
  <p:sldIdLst>
    <p:sldId id="256" r:id="rId3"/>
    <p:sldId id="257" r:id="rId4"/>
    <p:sldId id="258" r:id="rId5"/>
    <p:sldId id="259" r:id="rId6"/>
    <p:sldId id="260" r:id="rId7"/>
    <p:sldId id="261" r:id="rId8"/>
    <p:sldId id="262" r:id="rId9"/>
    <p:sldId id="263" r:id="rId10"/>
  </p:sldIdLst>
  <p:notesSz cx="6858000" cy="9144000"/>
</p:presentation>
</file>

<file path=ppt/presProps.xml><?xml version="1.0" encoding="utf-8"?>
<p:presentation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tableStyles.xml><?xml version="1.0" encoding="utf-8"?>
<a:tblStyleLst xmlns="http://schemas.openxmlformats.org/drawingml/2006/main" xmlns:a="http://schemas.openxmlformats.org/drawingml/2006/main" xmlns:r="http://schemas.openxmlformats.org/officeDocument/2006/relationships" xmlns:sh="http://schemas.openxmlformats.org/officeDocument/2006/sharedTypes" xmlns:xml="http://www.w3.org/XML/1998/namespace" def="{00000000-0000-0000-0000-000000000000}"/>
</file>

<file path=ppt/viewProps.xml><?xml version="1.0" encoding="utf-8"?>
<p:view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_rels/presentation.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 Target="theme/theme1.xml" Type="http://schemas.openxmlformats.org/officeDocument/2006/relationships/theme" Id="rId2"/><Relationship Target="slides/slide1.xml" Type="http://schemas.openxmlformats.org/officeDocument/2006/relationships/slide" Id="rId3"/><Relationship Target="slides/slide2.xml" Type="http://schemas.openxmlformats.org/officeDocument/2006/relationships/slide" Id="rId4"/><Relationship Target="slides/slide3.xml" Type="http://schemas.openxmlformats.org/officeDocument/2006/relationships/slide" Id="rId5"/><Relationship Target="slides/slide4.xml" Type="http://schemas.openxmlformats.org/officeDocument/2006/relationships/slide" Id="rId6"/><Relationship Target="slides/slide5.xml" Type="http://schemas.openxmlformats.org/officeDocument/2006/relationships/slide" Id="rId7"/><Relationship Target="slides/slide6.xml" Type="http://schemas.openxmlformats.org/officeDocument/2006/relationships/slide" Id="rId8"/><Relationship Target="slides/slide7.xml" Type="http://schemas.openxmlformats.org/officeDocument/2006/relationships/slide" Id="rId9"/><Relationship Target="slides/slide8.xml" Type="http://schemas.openxmlformats.org/officeDocument/2006/relationships/slide" Id="rId10"/></Relationships>

</file>

<file path=ppt/slideLayouts/_rels/slideLayout1.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s>

</file>

<file path=ppt/slideLayouts/slideLayout1.xml><?xml version="1.0" encoding="utf-8"?>
<p:sldLayout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sldLayout>
</file>

<file path=ppt/slideMasters/_rels/slideMaster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Target="../theme/theme1.xml" Type="http://schemas.openxmlformats.org/officeDocument/2006/relationships/theme" Id="rId2"/></Relationships>

</file>

<file path=ppt/slideMasters/slideMaster1.xml><?xml version="1.0" encoding="utf-8"?>
<p:sldMaste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2.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3.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4.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5.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6.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7.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_rels/slide8.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Id="rId2" Type="http://schemas.openxmlformats.org/officeDocument/2006/relationships/image" Target="../media/image1.png"/></Relationships>

</file>

<file path=ppt/slides/slide1.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1828800"/>
            <a:ext cx="8229600" cy="1371600"/>
          </a:xfrm>
          <a:prstGeom prst="rect"/>
        </p:spPr>
        <p:txBody>
          <a:bodyPr wrap="square">
            <a:spAutoFit/>
          </a:bodyPr>
          <a:p>
            <a:r>
              <a:rPr lang="id-ID" dirty="0" typeface="Calibri">
                <a:solidFill>
                  <a:srgbClr val="212121"/>
                </a:solidFill>
                <a:latin typeface="Calibri"/>
              </a:rPr>
              <a:rPr sz="4400" b="1"/>
              <a:t>Membangun Kepercayaan: Kunci untuk Accountability yang Efektif</a:t>
            </a:r>
          </a:p>
        </p:txBody>
      </p:sp>
      <p:sp>
        <p:nvSpPr>
          <p:cNvPr id="0" name=""/>
          <p:cNvSpPr txBox="1"/>
          <p:nvPr/>
        </p:nvSpPr>
        <p:spPr>
          <a:xfrm>
            <a:off x="457200" y="3474720"/>
            <a:ext cx="8229600" cy="2743200"/>
          </a:xfrm>
          <a:prstGeom prst="rect"/>
        </p:spPr>
        <p:txBody>
          <a:bodyPr wrap="square">
            <a:spAutoFit/>
          </a:bodyPr>
          <a:p>
            <a:r>
              <a:rPr lang="id-ID" dirty="0" typeface="Calibri">
                <a:solidFill>
                  <a:srgbClr val="212121"/>
                </a:solidFill>
                <a:latin typeface="Calibri"/>
              </a:rPr>
              <a:rPr sz="1800"/>
              <a:t>Durasi: 75 menit | Audiens: Peserta dengan level kompetensi dasar hingga menengah</a:t>
            </a:r>
          </a:p>
          <a:p/>
          <a:p>
            <a:r>
              <a:rPr lang="id-ID" dirty="0" b="1" typeface="Calibri">
                <a:solidFill>
                  <a:srgbClr val="4CAF50"/>
                </a:solidFill>
                <a:latin typeface="Calibri"/>
              </a:rPr>
              <a:rPr sz="1800" b="1"/>
              <a:t>Tujuan Pembelajaran:</a:t>
            </a:r>
          </a:p>
          <a:p>
            <a:r>
              <a:rPr lang="id-ID" dirty="0" b="1" typeface="Calibri">
                <a:solidFill>
                  <a:srgbClr val="212121"/>
                </a:solidFill>
                <a:latin typeface="Calibri"/>
              </a:rPr>
              <a:rPr sz="1600"/>
              <a:t>• Mengembangkan kemampuan membangun kepercayaan</a:t>
            </a:r>
          </a:p>
          <a:p>
            <a:r>
              <a:rPr lang="id-ID" dirty="0" b="1" typeface="Calibri">
                <a:solidFill>
                  <a:srgbClr val="212121"/>
                </a:solidFill>
                <a:latin typeface="Calibri"/>
              </a:rPr>
              <a:rPr sz="1600"/>
              <a:t>• Meningkatkan akuntabilitas dalam pekerjaan sehari-hari</a:t>
            </a:r>
          </a:p>
        </p:txBody>
      </p:sp>
    </p:spTree>
  </p:cSld>
</p:sld>
</file>

<file path=ppt/slides/slide2.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OBJECTIVE: TUJUAN PEMBELAJARAN</a:t>
            </a:r>
          </a:p>
        </p:txBody>
      </p:sp>
      <p:sp>
        <p:nvSpPr>
          <p:cNvPr id="0" name=""/>
          <p:cNvSpPr txBox="1"/>
          <p:nvPr/>
        </p:nvSpPr>
        <p:spPr>
          <a:xfrm>
            <a:off x="457200" y="1280160"/>
            <a:ext cx="8229600" cy="5303520"/>
          </a:xfrm>
          <a:prstGeom prst="rect"/>
        </p:spPr>
        <p:txBody>
          <a:bodyPr wrap="square">
            <a:spAutoFit/>
          </a:bodyPr>
          <a:p>
            <a:r>
              <a:rPr lang="id-ID" dirty="0" typeface="Calibri">
                <a:solidFill>
                  <a:srgbClr val="212121"/>
                </a:solidFill>
                <a:latin typeface="Calibri"/>
              </a:rPr>
              <a:rPr sz="1600"/>
              <a:t>Mengembangkan kemampuan membangun kepercayaan dengan rekan kerja dan atasan</a:t>
            </a:r>
          </a:p>
          <a:p>
            <a:r>
              <a:rPr lang="id-ID" dirty="0" typeface="Calibri">
                <a:solidFill>
                  <a:srgbClr val="212121"/>
                </a:solidFill>
                <a:latin typeface="Calibri"/>
              </a:rPr>
              <a:rPr sz="1600"/>
              <a:t>Meningkatkan kemampuan untuk mengambil tanggung jawab atas tindakan dan hasil</a:t>
            </a:r>
          </a:p>
          <a:p>
            <a:r>
              <a:rPr lang="id-ID" dirty="0" typeface="Calibri">
                <a:solidFill>
                  <a:srgbClr val="212121"/>
                </a:solidFill>
                <a:latin typeface="Calibri"/>
              </a:rPr>
              <a:rPr sz="1600"/>
              <a:t>Mengembangkan kemampuan untuk berkomunikasi efektif dan transparan</a:t>
            </a:r>
          </a:p>
          <a:p>
            <a:r>
              <a:rPr lang="id-ID" dirty="0" typeface="Calibri">
                <a:solidFill>
                  <a:srgbClr val="212121"/>
                </a:solidFill>
                <a:latin typeface="Calibri"/>
              </a:rPr>
              <a:rPr sz="1600"/>
              <a:t>Meningkatkan kemampuan untuk memecahkan masalah dan mengambil keputusan yang tepat</a:t>
            </a:r>
          </a:p>
          <a:p>
            <a:r>
              <a:rPr lang="id-ID" dirty="0" typeface="Calibri">
                <a:solidFill>
                  <a:srgbClr val="212121"/>
                </a:solidFill>
                <a:latin typeface="Calibri"/>
              </a:rPr>
              <a:rPr sz="1600"/>
              <a:t>Mengembangkan kemampuan untuk bekerja sama dan membangun tim yang solid</a:t>
            </a:r>
          </a:p>
        </p:txBody>
      </p:sp>
    </p:spTree>
  </p:cSld>
</p:sld>
</file>

<file path=ppt/slides/slide3.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KONSEP: APA ITU KEPERCAYAAN?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212121"/>
                </a:solidFill>
                <a:latin typeface="Calibri"/>
              </a:rPr>
              <a:rPr sz="1600"/>
              <a:t>Definisi Kepercayaan</a:t>
            </a:r>
          </a:p>
          <a:p>
            <a:r>
              <a:rPr lang="id-ID" dirty="0" b="1" typeface="Calibri">
                <a:solidFill>
                  <a:srgbClr val="D32F2F"/>
                </a:solidFill>
                <a:latin typeface="Calibri"/>
              </a:rPr>
              <a:rPr sz="1600"/>
              <a:t>Kepercayaan adalah keyakinan bahwa seseorang atau sesuatu dapat dipercaya dan diandalkan. Dalam konteks pekerjaan, kepercayaan sangat penting karena mempengaruhi kemampuan untuk bekerja sama, membagi tugas, dan mencapai tujuan bersama.</a:t>
            </a:r>
          </a:p>
          <a:p>
            <a:r>
              <a:rPr lang="id-ID" dirty="0" b="1" typeface="Calibri">
                <a:solidFill>
                  <a:srgbClr val="212121"/>
                </a:solidFill>
                <a:latin typeface="Calibri"/>
              </a:rPr>
              <a:rPr sz="1600"/>
              <a:t>• Faktor-Faktor yang Mempengaruhi Kepercayaan</a:t>
            </a:r>
          </a:p>
          <a:p>
            <a:r>
              <a:rPr lang="id-ID" dirty="0" typeface="Calibri">
                <a:solidFill>
                  <a:srgbClr val="212121"/>
                </a:solidFill>
                <a:latin typeface="Calibri"/>
              </a:rPr>
              <a:rPr sz="1600"/>
              <a:t>Faktor-faktor seperti komunikasi yang efektif, integritas, dan kemampuan untuk memenuhi komitmen sangat mempengaruhi pembangunan kepercayaan. Selain itu, kemampuan untuk mengakui dan memperbaiki kesalahan juga sangat penting dalam mempertahankan kepercayaan.</a:t>
            </a:r>
          </a:p>
          <a:p>
            <a:r>
              <a:rPr lang="id-ID" dirty="0" b="1" typeface="Calibri">
                <a:solidFill>
                  <a:srgbClr val="212121"/>
                </a:solidFill>
                <a:latin typeface="Calibri"/>
              </a:rPr>
              <a:rPr sz="1600"/>
              <a:t>• Peran Kepercayaan dalam Membangun Akuntabilitas</a:t>
            </a:r>
          </a:p>
          <a:p>
            <a:r>
              <a:rPr lang="id-ID" dirty="0" typeface="Calibri">
                <a:solidFill>
                  <a:srgbClr val="212121"/>
                </a:solidFill>
                <a:latin typeface="Calibri"/>
              </a:rPr>
              <a:rPr sz="1600"/>
              <a:t>Kepercayaan adalah fondasi dari akuntabilitas. Ketika kepercayaan terbangun, individu lebih cenderung untuk mengambil tanggung jawab atas tindakan dan hasil mereka, karena mereka merasa bahwa kepercayaan yang diberikan kepada mereka adalah sebuah kehormatan yang harus dijaga.</a:t>
            </a:r>
          </a:p>
        </p:txBody>
      </p:sp>
    </p:spTree>
  </p:cSld>
</p:sld>
</file>

<file path=ppt/slides/slide4.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LANGKAH: MEMBANGUN KEPERCAYAAN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4CAF50"/>
                </a:solidFill>
                <a:latin typeface="Calibri"/>
              </a:rPr>
              <a:rPr sz="1600"/>
              <a:t>Langkah 1: Komunikasi yang Efektif</a:t>
            </a:r>
          </a:p>
          <a:p>
            <a:r>
              <a:rPr lang="id-ID" dirty="0" typeface="Calibri">
                <a:solidFill>
                  <a:srgbClr val="212121"/>
                </a:solidFill>
                <a:latin typeface="Calibri"/>
              </a:rPr>
              <a:rPr sz="1600"/>
              <a:t>Komunikasi yang efektif adalah kunci dalam membangun kepercayaan. Pastikan untuk selalu menjelaskan tujuan, proses, dan hasil dengan jelas dan transparan. Mendengarkan aktif dan memahami perspektif orang lain juga sangat penting.</a:t>
            </a:r>
          </a:p>
          <a:p>
            <a:r>
              <a:rPr lang="id-ID" dirty="0" b="1" typeface="Calibri">
                <a:solidFill>
                  <a:srgbClr val="4CAF50"/>
                </a:solidFill>
                <a:latin typeface="Calibri"/>
              </a:rPr>
              <a:rPr sz="1600"/>
              <a:t>• Langkah 2: Menjaga Integritas</a:t>
            </a:r>
          </a:p>
          <a:p>
            <a:r>
              <a:rPr lang="id-ID" dirty="0" typeface="Calibri">
                <a:solidFill>
                  <a:srgbClr val="212121"/>
                </a:solidFill>
                <a:latin typeface="Calibri"/>
              </a:rPr>
              <a:rPr sz="1600"/>
              <a:t>Menjaga integritas dengan selalu memenuhi komitmen dan bersikap konsisten dalam tindakan dan perkataan. Integritas membangun kepercayaan dan meningkatkan kemampuan untuk bekerja sama.</a:t>
            </a:r>
          </a:p>
          <a:p>
            <a:r>
              <a:rPr lang="id-ID" dirty="0" b="1" typeface="Calibri">
                <a:solidFill>
                  <a:srgbClr val="4CAF50"/>
                </a:solidFill>
                <a:latin typeface="Calibri"/>
              </a:rPr>
              <a:rPr sz="1600"/>
              <a:t>• Langkah 3: Mengakui dan Memperbaiki Kesalahan</a:t>
            </a:r>
          </a:p>
          <a:p>
            <a:r>
              <a:rPr lang="id-ID" dirty="0" typeface="Calibri">
                <a:solidFill>
                  <a:srgbClr val="212121"/>
                </a:solidFill>
                <a:latin typeface="Calibri"/>
              </a:rPr>
              <a:rPr sz="1600"/>
              <a:t>Mengakui kesalahan dan memperbaikinya dengan cepat dan efektif sangat penting dalam mempertahankan kepercayaan. Ini menunjukkan kemampuan untuk belajar dari kesalahan dan berkomitmen untuk perbaikan terus-menerus.</a:t>
            </a:r>
          </a:p>
        </p:txBody>
      </p:sp>
    </p:spTree>
  </p:cSld>
</p:sld>
</file>

<file path=ppt/slides/slide5.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STUDI KASUS: MEMBANGUN KEPERCAYAAN DI TEMPAT KERJA</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212121"/>
                </a:solidFill>
                <a:latin typeface="Calibri"/>
              </a:rPr>
              <a:rPr sz="1600"/>
              <a:t>Contoh Kasus: Membangun Kepercayaan dalam Proyek Tim</a:t>
            </a:r>
          </a:p>
          <a:p>
            <a:r>
              <a:rPr lang="id-ID" dirty="0" typeface="Calibri">
                <a:solidFill>
                  <a:srgbClr val="212121"/>
                </a:solidFill>
                <a:latin typeface="Calibri"/>
              </a:rPr>
              <a:rPr sz="1600"/>
              <a:t>Dalam sebuah proyek tim, membangun kepercayaan sangat penting untuk mencapai tujuan bersama. Dengan komunikasi yang efektif, menjaga integritas, dan mengakui serta memperbaiki kesalahan, tim dapat membangun kepercayaan dan meningkatkan kemampuan untuk bekerja sama.</a:t>
            </a:r>
          </a:p>
          <a:p>
            <a:r>
              <a:rPr lang="id-ID" dirty="0" b="1" typeface="Calibri">
                <a:solidFill>
                  <a:srgbClr val="212121"/>
                </a:solidFill>
                <a:latin typeface="Calibri"/>
              </a:rPr>
              <a:rPr sz="1600"/>
              <a:t>• Analisis Kasus</a:t>
            </a:r>
          </a:p>
          <a:p>
            <a:r>
              <a:rPr lang="id-ID" dirty="0" b="1" typeface="Calibri">
                <a:solidFill>
                  <a:srgbClr val="212121"/>
                </a:solidFill>
                <a:latin typeface="Calibri"/>
              </a:rPr>
              <a:rPr sz="1600"/>
              <a:t>Analisis kasus menunjukkan bahwa membangun kepercayaan membutuhkan komitmen dan usaha dari semua anggota tim. Dengan membangun kepercayaan, tim dapat meningkatkan produktivitas, memperbaiki komunikasi, dan mencapai tujuan yang lebih efektif.</a:t>
            </a:r>
          </a:p>
        </p:txBody>
      </p:sp>
    </p:spTree>
  </p:cSld>
</p:sld>
</file>

<file path=ppt/slides/slide6.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b="1" typeface="Calibri">
                <a:solidFill>
                  <a:srgbClr val="4CAF50"/>
                </a:solidFill>
                <a:latin typeface="Calibri"/>
              </a:rPr>
              <a:rPr sz="2800" b="1"/>
              <a:t>PENUTUP: RINGKASAN DAN TINDAK LANJUT</a:t>
            </a:r>
          </a:p>
        </p:txBody>
      </p:sp>
      <p:sp>
        <p:nvSpPr>
          <p:cNvPr id="0" name=""/>
          <p:cNvSpPr txBox="1"/>
          <p:nvPr/>
        </p:nvSpPr>
        <p:spPr>
          <a:xfrm>
            <a:off x="457200" y="1280160"/>
            <a:ext cx="8229600" cy="5303520"/>
          </a:xfrm>
          <a:prstGeom prst="rect"/>
        </p:spPr>
        <p:txBody>
          <a:bodyPr wrap="square">
            <a:spAutoFit/>
          </a:bodyPr>
          <a:p>
            <a:r>
              <a:rPr lang="id-ID" dirty="0" typeface="Calibri">
                <a:solidFill>
                  <a:srgbClr val="212121"/>
                </a:solidFill>
                <a:latin typeface="Calibri"/>
              </a:rPr>
              <a:rPr sz="1600"/>
              <a:t>Ringkasan: Membangun Kepercayaan untuk Akuntabilitas</a:t>
            </a:r>
          </a:p>
          <a:p>
            <a:r>
              <a:rPr lang="id-ID" dirty="0" b="1" typeface="Calibri">
                <a:solidFill>
                  <a:srgbClr val="4CAF50"/>
                </a:solidFill>
                <a:latin typeface="Calibri"/>
              </a:rPr>
              <a:rPr sz="1600"/>
              <a:t>Membangun kepercayaan adalah kunci untuk meningkatkan akuntabilitas dan mencapai tujuan bersama dalam tim. Dengan memahami konsep kepercayaan, mengambil langkah-langkah membangun kepercayaan, dan menerapkan studi kasus, individu dapat meningkatkan kemampuan untuk bekerja sama dan membangun tim yang solid.</a:t>
            </a:r>
          </a:p>
          <a:p>
            <a:r>
              <a:rPr lang="id-ID" dirty="0" b="1" typeface="Calibri">
                <a:solidFill>
                  <a:srgbClr val="4CAF50"/>
                </a:solidFill>
                <a:latin typeface="Calibri"/>
              </a:rPr>
              <a:rPr sz="1600"/>
              <a:t>• Tindak Lanjut: Menerapkan Konsep Kepercayaan</a:t>
            </a:r>
          </a:p>
          <a:p>
            <a:r>
              <a:rPr lang="id-ID" dirty="0" typeface="Calibri">
                <a:solidFill>
                  <a:srgbClr val="212121"/>
                </a:solidFill>
                <a:latin typeface="Calibri"/>
              </a:rPr>
              <a:rPr sz="1600"/>
              <a:t>Tindak lanjut yang penting adalah menerapkan konsep kepercayaan dalam pekerjaan sehari-hari. Dengan mempraktikkan komunikasi yang efektif, menjaga integritas, dan mengakui serta memperbaiki kesalahan, individu dapat membangun kepercayaan dan meningkatkan akuntabilitas dalam tim.</a:t>
            </a:r>
          </a:p>
        </p:txBody>
      </p:sp>
    </p:spTree>
  </p:cSld>
</p:sld>
</file>

<file path=ppt/slides/slide7.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typeface="Calibri">
                <a:solidFill>
                  <a:srgbClr val="212121"/>
                </a:solidFill>
                <a:latin typeface="Calibri"/>
              </a:rPr>
              <a:rPr sz="2800" b="1"/>
              <a:t>Aktivitas &amp; Latihan</a:t>
            </a:r>
          </a:p>
        </p:txBody>
      </p:sp>
      <p:sp>
        <p:nvSpPr>
          <p:cNvPr id="0" name=""/>
          <p:cNvSpPr txBox="1"/>
          <p:nvPr/>
        </p:nvSpPr>
        <p:spPr>
          <a:xfrm>
            <a:off x="457200" y="1280160"/>
            <a:ext cx="8229600" cy="5303520"/>
          </a:xfrm>
          <a:prstGeom prst="rect"/>
        </p:spPr>
        <p:txBody>
          <a:bodyPr wrap="square">
            <a:spAutoFit/>
          </a:bodyPr>
          <a:p>
            <a:r>
              <a:rPr lang="id-ID" dirty="0" b="1" typeface="Calibri">
                <a:solidFill>
                  <a:srgbClr val="D32F2F"/>
                </a:solidFill>
                <a:latin typeface="Calibri"/>
              </a:rPr>
              <a:rPr sz="1800" b="1"/>
              <a:t>1. Aktivitas 1: Membangun Kepercayaan dalam Tim (15 menit)</a:t>
            </a:r>
          </a:p>
          <a:p>
            <a:r>
              <a:rPr lang="id-ID" dirty="0" b="1" typeface="Calibri">
                <a:solidFill>
                  <a:srgbClr val="4CAF50"/>
                </a:solidFill>
                <a:latin typeface="Calibri"/>
              </a:rPr>
              <a:rPr sz="1500"/>
              <a:t xml:space="preserve">   Peserta diminta untuk berbagi pengalaman membangun kepercayaan dalam tim dan membahas langkah-langkah yang dapat diambil untuk meningkatkan kepercayaan.</a:t>
            </a:r>
          </a:p>
          <a:p>
            <a:r>
              <a:rPr sz="600"/>
              <a:t xml:space="preserve"> </a:t>
            </a:r>
          </a:p>
          <a:p>
            <a:r>
              <a:rPr lang="id-ID" dirty="0" b="1" typeface="Calibri">
                <a:solidFill>
                  <a:srgbClr val="D32F2F"/>
                </a:solidFill>
                <a:latin typeface="Calibri"/>
              </a:rPr>
              <a:rPr sz="1800" b="1"/>
              <a:t>2. Aktivitas 2: Mengembangkan Kemampuan Komunikasi (20 menit)</a:t>
            </a:r>
          </a:p>
          <a:p>
            <a:r>
              <a:rPr lang="id-ID" dirty="0" typeface="Calibri">
                <a:solidFill>
                  <a:srgbClr val="212121"/>
                </a:solidFill>
                <a:latin typeface="Calibri"/>
              </a:rPr>
              <a:rPr sz="1500"/>
              <a:t xml:space="preserve">   Peserta diminta untuk berlatih komunikasi yang efektif dalam berbagai skenario, termasuk memberikan umpan balik dan menerima umpan balik.</a:t>
            </a:r>
          </a:p>
        </p:txBody>
      </p:sp>
    </p:spTree>
  </p:cSld>
</p:sld>
</file>

<file path=ppt/slides/slide8.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bg>
      <p:bgPr>
        <a:blipFill dpi="0" rotWithShape="1">
          <a:blip r:embed="rId2"/>
          <a:stretch>
            <a:fillRect/>
          </a:stretch>
        </a:blipFill>
      </p:bgPr>
    </p:bg>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lang="id-ID" dirty="0" typeface="Calibri">
                <a:solidFill>
                  <a:srgbClr val="212121"/>
                </a:solidFill>
                <a:latin typeface="Calibri"/>
              </a:rPr>
              <a:rPr sz="2800" b="1"/>
              <a:t>Assessment &amp; Evaluasi</a:t>
            </a:r>
          </a:p>
        </p:txBody>
      </p:sp>
      <p:sp>
        <p:nvSpPr>
          <p:cNvPr id="0" name=""/>
          <p:cNvSpPr txBox="1"/>
          <p:nvPr/>
        </p:nvSpPr>
        <p:spPr>
          <a:xfrm>
            <a:off x="457200" y="1280160"/>
            <a:ext cx="8229600" cy="5303520"/>
          </a:xfrm>
          <a:prstGeom prst="rect"/>
        </p:spPr>
        <p:txBody>
          <a:bodyPr wrap="square">
            <a:spAutoFit/>
          </a:bodyPr>
          <a:p>
            <a:r>
              <a:rPr lang="id-ID" dirty="0" typeface="Calibri">
                <a:solidFill>
                  <a:srgbClr val="212121"/>
                </a:solidFill>
                <a:latin typeface="Calibri"/>
              </a:rPr>
              <a:rPr sz="1500" b="1"/>
              <a:t>Q1: Apa yang dimaksud dengan kepercayaan dalam konteks pekerjaan?</a:t>
            </a:r>
          </a:p>
          <a:p>
            <a:r>
              <a:rPr lang="id-ID" dirty="0" b="1" typeface="Calibri">
                <a:solidFill>
                  <a:srgbClr val="D32F2F"/>
                </a:solidFill>
                <a:latin typeface="Calibri"/>
              </a:rPr>
              <a:rPr sz="1400"/>
              <a:t>A: Kepercayaan dalam konteks pekerjaan adalah keyakinan bahwa seseorang atau sesuatu dapat dipercaya dan diandalkan.</a:t>
            </a:r>
          </a:p>
          <a:p>
            <a:r>
              <a:rPr sz="600"/>
              <a:t xml:space="preserve"> </a:t>
            </a:r>
          </a:p>
          <a:p>
            <a:r>
              <a:rPr lang="id-ID" dirty="0" typeface="Calibri">
                <a:solidFill>
                  <a:srgbClr val="212121"/>
                </a:solidFill>
                <a:latin typeface="Calibri"/>
              </a:rPr>
              <a:rPr sz="1500" b="1"/>
              <a:t>Q2: Bagaimana cara membangun kepercayaan dalam tim?</a:t>
            </a:r>
          </a:p>
          <a:p>
            <a:r>
              <a:rPr lang="id-ID" dirty="0" typeface="Calibri">
                <a:solidFill>
                  <a:srgbClr val="212121"/>
                </a:solidFill>
                <a:latin typeface="Calibri"/>
              </a:rPr>
              <a:rPr sz="1400"/>
              <a:t>A: Membangun kepercayaan dalam tim dapat dilakukan dengan komunikasi yang efektif, menjaga integritas, dan mengakui serta memperbaiki kesalahan.</a:t>
            </a:r>
          </a:p>
        </p:txBody>
      </p:sp>
    </p:spTree>
  </p:cSld>
</p:sld>
</file>

<file path=ppt/theme/theme1.xml><?xml version="1.0" encoding="utf-8"?>
<a:theme xmlns="http://schemas.openxmlformats.org/drawingml/2006/main" xmlns:a="http://schemas.openxmlformats.org/drawingml/2006/main" xmlns:r="http://schemas.openxmlformats.org/officeDocument/2006/relationships" xmlns:sh="http://schemas.openxmlformats.org/officeDocument/2006/sharedTypes" xmlns:xml="http://www.w3.org/XML/1998/namespace"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xmlns:xml="http://www.w3.org/XML/1998/namespace">
  <Company>FoxyUtils ehf</Company>
  <LinksUpToDate>false</LinksUpToDate>
  <Application>github.com/unidoc/unioffice</Application>
  <AppVersion>01.0017</AppVersion>
  <DocSecurity>0</DocSecurity>
</Properties>
</file>

<file path=docProps/core.xml><?xml version="1.0" encoding="utf-8"?>
<cp:coreProperties xmlns="http://schemas.openxmlformats.org/package/2006/metadata/core-properties" xmlns:cp="http://schemas.openxmlformats.org/package/2006/metadata/core-properties" xmlns:dc="http://purl.org/dc/elements/1.1/" xmlns:dcterms="http://purl.org/dc/terms/" xmlns:xml="http://www.w3.org/XML/1998/namespace"/>
</file>