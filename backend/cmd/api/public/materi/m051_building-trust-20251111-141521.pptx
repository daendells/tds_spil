
<file path=[Content_Types].xml><?xml version="1.0" encoding="utf-8"?>
<Types xmlns="http://schemas.openxmlformats.org/package/2006/content-types" xmlns:xml="http://www.w3.org/XML/1998/namespace">
  <Default Extension="xml" ContentType="application/xml"/>
  <Default Extension="rels" ContentType="application/vnd.openxmlformats-package.relationships+xml"/>
  <Default Extension="png" ContentType="image/png"/>
  <Default Extension="jpeg" ContentType="image/jpeg"/>
  <Default Extension="jpg" ContentType="image/jpeg"/>
  <Default Extension="wmf" ContentType="image/x-wmf"/>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theme+xml" PartName="/ppt/theme/theme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Types>
</file>

<file path=_rels/.rels><?xml version="1.0" encoding="UTF-8" standalone="yes"?>
<Relationships xmlns="http://schemas.openxmlformats.org/package/2006/relationships" xmlns:xml="http://www.w3.org/XML/1998/namespace"><Relationship Target="docProps/core.xml" Type="http://schemas.openxmlformats.org/package/2006/relationships/metadata/core-properties" Id="rId1"/><Relationship Target="docProps/app.xml" Type="http://schemas.openxmlformats.org/officeDocument/2006/relationships/extended-properties" Id="rId2"/><Relationship Target="ppt/presentation.xml" Type="http://schemas.openxmlformats.org/officeDocument/2006/relationships/officeDocument" Id="rId3"/><Relationship Target="ppt/presProps.xml" Type="http://schemas.openxmlformats.org/officeDocument/2006/relationships/presProps" Id="rId4"/><Relationship Target="ppt/viewProps.xml" Type="http://schemas.openxmlformats.org/officeDocument/2006/relationships/viewProps" Id="rId5"/><Relationship Target="ppt/tableStyles.xml" Type="http://schemas.openxmlformats.org/officeDocument/2006/relationships/tableStyles" Id="rId6"/></Relationships>

</file>

<file path=ppt/presentation.xml><?xml version="1.0" encoding="utf-8"?>
<p:presentation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conformance="transitional">
  <p:sldMasterIdLst>
    <p:sldMasterId id="2147483648" r:id="rId1"/>
  </p:sldMasterIdLst>
  <p:sldIdLst>
    <p:sldId id="256" r:id="rId3"/>
    <p:sldId id="257" r:id="rId4"/>
    <p:sldId id="258" r:id="rId5"/>
    <p:sldId id="259" r:id="rId6"/>
    <p:sldId id="260" r:id="rId7"/>
    <p:sldId id="261" r:id="rId8"/>
    <p:sldId id="262" r:id="rId9"/>
    <p:sldId id="263" r:id="rId10"/>
  </p:sldIdLst>
  <p:notesSz cx="6858000" cy="9144000"/>
</p:presentation>
</file>

<file path=ppt/presProps.xml><?xml version="1.0" encoding="utf-8"?>
<p:presentation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tableStyles.xml><?xml version="1.0" encoding="utf-8"?>
<a:tblStyleLst xmlns="http://schemas.openxmlformats.org/drawingml/2006/main" xmlns:a="http://schemas.openxmlformats.org/drawingml/2006/main" xmlns:r="http://schemas.openxmlformats.org/officeDocument/2006/relationships" xmlns:sh="http://schemas.openxmlformats.org/officeDocument/2006/sharedTypes" xmlns:xml="http://www.w3.org/XML/1998/namespace" def="{00000000-0000-0000-0000-000000000000}"/>
</file>

<file path=ppt/viewProps.xml><?xml version="1.0" encoding="utf-8"?>
<p:view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_rels/presentation.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 Target="theme/theme1.xml" Type="http://schemas.openxmlformats.org/officeDocument/2006/relationships/theme" Id="rId2"/><Relationship Target="slides/slide1.xml" Type="http://schemas.openxmlformats.org/officeDocument/2006/relationships/slide" Id="rId3"/><Relationship Target="slides/slide2.xml" Type="http://schemas.openxmlformats.org/officeDocument/2006/relationships/slide" Id="rId4"/><Relationship Target="slides/slide3.xml" Type="http://schemas.openxmlformats.org/officeDocument/2006/relationships/slide" Id="rId5"/><Relationship Target="slides/slide4.xml" Type="http://schemas.openxmlformats.org/officeDocument/2006/relationships/slide" Id="rId6"/><Relationship Target="slides/slide5.xml" Type="http://schemas.openxmlformats.org/officeDocument/2006/relationships/slide" Id="rId7"/><Relationship Target="slides/slide6.xml" Type="http://schemas.openxmlformats.org/officeDocument/2006/relationships/slide" Id="rId8"/><Relationship Target="slides/slide7.xml" Type="http://schemas.openxmlformats.org/officeDocument/2006/relationships/slide" Id="rId9"/><Relationship Target="slides/slide8.xml" Type="http://schemas.openxmlformats.org/officeDocument/2006/relationships/slide" Id="rId10"/></Relationships>

</file>

<file path=ppt/slideLayouts/_rels/slideLayout1.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s>

</file>

<file path=ppt/slideLayouts/slideLayout1.xml><?xml version="1.0" encoding="utf-8"?>
<p:sldLayout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sldLayout>
</file>

<file path=ppt/slideMasters/_rels/slideMaster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Target="../theme/theme1.xml" Type="http://schemas.openxmlformats.org/officeDocument/2006/relationships/theme" Id="rId2"/></Relationships>

</file>

<file path=ppt/slideMasters/slideMaster1.xml><?xml version="1.0" encoding="utf-8"?>
<p:sldMaste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2.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3.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4.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5.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6.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7.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8.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slide1.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1828800"/>
            <a:ext cx="8229600" cy="1371600"/>
          </a:xfrm>
          <a:prstGeom prst="rect"/>
        </p:spPr>
        <p:txBody>
          <a:bodyPr wrap="square">
            <a:spAutoFit/>
          </a:bodyPr>
          <a:p>
            <a:r>
              <a:rPr lang="id-ID" dirty="0" typeface="Calibri">
                <a:solidFill>
                  <a:srgbClr val="212121"/>
                </a:solidFill>
                <a:latin typeface="Calibri"/>
              </a:rPr>
              <a:rPr sz="4400" b="1"/>
              <a:t>Membangun Kepercayaan: Kunci Sukses dalam Kerja Tim</a:t>
            </a:r>
          </a:p>
        </p:txBody>
      </p:sp>
      <p:sp>
        <p:nvSpPr>
          <p:cNvPr id="0" name=""/>
          <p:cNvSpPr txBox="1"/>
          <p:nvPr/>
        </p:nvSpPr>
        <p:spPr>
          <a:xfrm>
            <a:off x="457200" y="3474720"/>
            <a:ext cx="8229600" cy="2743200"/>
          </a:xfrm>
          <a:prstGeom prst="rect"/>
        </p:spPr>
        <p:txBody>
          <a:bodyPr wrap="square">
            <a:spAutoFit/>
          </a:bodyPr>
          <a:p>
            <a:r>
              <a:rPr lang="id-ID" dirty="0" typeface="Calibri">
                <a:solidFill>
                  <a:srgbClr val="212121"/>
                </a:solidFill>
                <a:latin typeface="Calibri"/>
              </a:rPr>
              <a:rPr sz="1800"/>
              <a:t>Durasi: 75 menit | Audiens: Staf dan manajer level awal</a:t>
            </a:r>
          </a:p>
          <a:p/>
          <a:p>
            <a:r>
              <a:rPr lang="id-ID" dirty="0" b="1" typeface="Calibri">
                <a:solidFill>
                  <a:srgbClr val="4CAF50"/>
                </a:solidFill>
                <a:latin typeface="Calibri"/>
              </a:rPr>
              <a:rPr sz="1800" b="1"/>
              <a:t>Tujuan Pembelajaran:</a:t>
            </a:r>
          </a:p>
          <a:p>
            <a:r>
              <a:rPr lang="id-ID" dirty="0" b="1" typeface="Calibri">
                <a:solidFill>
                  <a:srgbClr val="212121"/>
                </a:solidFill>
                <a:latin typeface="Calibri"/>
              </a:rPr>
              <a:rPr sz="1600"/>
              <a:t>• Mengembangkan kemampuan membangun kepercayaan</a:t>
            </a:r>
          </a:p>
          <a:p>
            <a:r>
              <a:rPr lang="id-ID" dirty="0" b="1" typeface="Calibri">
                <a:solidFill>
                  <a:srgbClr val="212121"/>
                </a:solidFill>
                <a:latin typeface="Calibri"/>
              </a:rPr>
              <a:rPr sz="1600"/>
              <a:t>• Meningkatkan komunikasi efektif</a:t>
            </a:r>
          </a:p>
        </p:txBody>
      </p:sp>
    </p:spTree>
  </p:cSld>
</p:sld>
</file>

<file path=ppt/slides/slide2.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OBJECTIVE: TUJUAN PEMBELAJARAN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Definisi Kepercayaan</a:t>
            </a:r>
          </a:p>
          <a:p>
            <a:r>
              <a:rPr lang="id-ID" dirty="0" typeface="Calibri">
                <a:solidFill>
                  <a:srgbClr val="212121"/>
                </a:solidFill>
                <a:latin typeface="Calibri"/>
              </a:rPr>
              <a:rPr sz="1600"/>
              <a:t>Kepercayaan adalah fondasi dari setiap hubungan yang sehat, baik dalam konteks personal maupun profesional. Dalam dunia kerja, kepercayaan memungkinkan tim untuk bekerja sama secara efektif, berbagi ide, dan menghadapi tantangan bersama. Tanpa kepercayaan, tim akan mengalami kesulitan dalam mencapai tujuan bersama.</a:t>
            </a:r>
          </a:p>
          <a:p>
            <a:r>
              <a:rPr lang="id-ID" dirty="0" b="1" typeface="Calibri">
                <a:solidFill>
                  <a:srgbClr val="212121"/>
                </a:solidFill>
                <a:latin typeface="Calibri"/>
              </a:rPr>
              <a:rPr sz="1600"/>
              <a:t>• Pentingnya Kepercayaan dalam Tim</a:t>
            </a:r>
          </a:p>
          <a:p>
            <a:r>
              <a:rPr lang="id-ID" dirty="0" typeface="Calibri">
                <a:solidFill>
                  <a:srgbClr val="212121"/>
                </a:solidFill>
                <a:latin typeface="Calibri"/>
              </a:rPr>
              <a:rPr sz="1600"/>
              <a:t>Kepercayaan memungkinkan anggota tim untuk merasa nyaman dalam berbagi pendapat, mengambil risiko, dan belajar dari kesalahan. Hal ini juga meningkatkan motivasi, job satisfaction, dan retensi karyawan. Dalam lingkungan kerja yang penuh kepercayaan, setiap individu merasa dihargai dan didukung, sehingga mereka lebih termotivasi untuk berkontribusi pada kesuksesan tim.</a:t>
            </a:r>
          </a:p>
          <a:p>
            <a:r>
              <a:rPr lang="id-ID" dirty="0" b="1" typeface="Calibri">
                <a:solidFill>
                  <a:srgbClr val="D32F2F"/>
                </a:solidFill>
                <a:latin typeface="Calibri"/>
              </a:rPr>
              <a:rPr sz="1600"/>
              <a:t>• Tujuan Utama Membangun Kepercayaan</a:t>
            </a:r>
          </a:p>
          <a:p>
            <a:r>
              <a:rPr lang="id-ID" dirty="0" b="1" typeface="Calibri">
                <a:solidFill>
                  <a:srgbClr val="D32F2F"/>
                </a:solidFill>
                <a:latin typeface="Calibri"/>
              </a:rPr>
              <a:rPr sz="1600"/>
              <a:t>Tujuan utama membangun kepercayaan adalah menciptakan lingkungan kerja yang positif, kolaboratif, dan produktif. Dengan kepercayaan, tim dapat mengatasi konflik dengan lebih efektif, meningkatkan komunikasi, dan mencapai tujuan yang lebih tinggi. Selain itu, kepercayaan juga memungkinkan organisasi untuk lebih adaptif terhadap perubahan dan lebih inovatif dalam mencari solusi.</a:t>
            </a:r>
          </a:p>
        </p:txBody>
      </p:sp>
    </p:spTree>
  </p:cSld>
</p:sld>
</file>

<file path=ppt/slides/slide3.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KONSEP: MEMAHAMI KEPERCAYAAN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Definisi Kepercayaan dalam Konteks Kerja</a:t>
            </a:r>
          </a:p>
          <a:p>
            <a:r>
              <a:rPr lang="id-ID" dirty="0" b="1" typeface="Calibri">
                <a:solidFill>
                  <a:srgbClr val="D32F2F"/>
                </a:solidFill>
                <a:latin typeface="Calibri"/>
              </a:rPr>
              <a:rPr sz="1600"/>
              <a:t>Kepercayaan dalam konteks kerja merujuk pada keyakinan bahwa seseorang atau sebuah tim akan bertindak dengan integritas, kompetensi, dan kepedulian terhadap kepentingan bersama. Ini melibatkan keterbukaan, transparansi, dan akuntabilitas dalam semua interaksi.</a:t>
            </a:r>
          </a:p>
          <a:p>
            <a:r>
              <a:rPr lang="id-ID" dirty="0" b="1" typeface="Calibri">
                <a:solidFill>
                  <a:srgbClr val="212121"/>
                </a:solidFill>
                <a:latin typeface="Calibri"/>
              </a:rPr>
              <a:rPr sz="1600"/>
              <a:t>• Komponen Kepercayaan</a:t>
            </a:r>
          </a:p>
          <a:p>
            <a:r>
              <a:rPr lang="id-ID" dirty="0" typeface="Calibri">
                <a:solidFill>
                  <a:srgbClr val="212121"/>
                </a:solidFill>
                <a:latin typeface="Calibri"/>
              </a:rPr>
              <a:rPr sz="1600"/>
              <a:t>Kepercayaan terdiri dari beberapa komponen kunci, termasuk kejujuran, keadilan, dan kemampuan untuk memenuhi komitmen. Setiap komponen ini penting untuk membangun dan memelihara kepercayaan dalam tim.</a:t>
            </a:r>
          </a:p>
          <a:p>
            <a:r>
              <a:rPr lang="id-ID" dirty="0" b="1" typeface="Calibri">
                <a:solidFill>
                  <a:srgbClr val="212121"/>
                </a:solidFill>
                <a:latin typeface="Calibri"/>
              </a:rPr>
              <a:rPr sz="1600"/>
              <a:t>• Faktor yang Mempengaruhi Kepercayaan</a:t>
            </a:r>
          </a:p>
          <a:p>
            <a:r>
              <a:rPr lang="id-ID" dirty="0" typeface="Calibri">
                <a:solidFill>
                  <a:srgbClr val="212121"/>
                </a:solidFill>
                <a:latin typeface="Calibri"/>
              </a:rPr>
              <a:rPr sz="1600"/>
              <a:t>Faktor seperti komunikasi yang efektif, kerja sama, dan pengakuan akan prestasi dapat meningkatkan kepercayaan. Di sisi lain, ketidakjujuran, ketidakadilan, dan kegagalan untuk memenuhi komitmen dapat merusak kepercayaan.</a:t>
            </a:r>
          </a:p>
        </p:txBody>
      </p:sp>
    </p:spTree>
  </p:cSld>
</p:sld>
</file>

<file path=ppt/slides/slide4.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LANGKAH: MEMBANGUN KEPERCAYAAN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4CAF50"/>
                </a:solidFill>
                <a:latin typeface="Calibri"/>
              </a:rPr>
              <a:rPr sz="1600"/>
              <a:t>Langkah 1: Komunikasi Terbuka</a:t>
            </a:r>
          </a:p>
          <a:p>
            <a:r>
              <a:rPr lang="id-ID" dirty="0" typeface="Calibri">
                <a:solidFill>
                  <a:srgbClr val="212121"/>
                </a:solidFill>
                <a:latin typeface="Calibri"/>
              </a:rPr>
              <a:rPr sz="1600"/>
              <a:t>Komunikasi terbuka dan jujur adalah kunci membangun kepercayaan. Ini melibatkan berbagi informasi yang akurat dan relevan, mendengarkan aktif, dan memberikan umpan balik yang konstruktif.</a:t>
            </a:r>
          </a:p>
          <a:p>
            <a:r>
              <a:rPr lang="id-ID" dirty="0" b="1" typeface="Calibri">
                <a:solidFill>
                  <a:srgbClr val="4CAF50"/>
                </a:solidFill>
                <a:latin typeface="Calibri"/>
              </a:rPr>
              <a:rPr sz="1600"/>
              <a:t>• Langkah 2: Menjaga Komitmen</a:t>
            </a:r>
          </a:p>
          <a:p>
            <a:r>
              <a:rPr lang="id-ID" dirty="0" typeface="Calibri">
                <a:solidFill>
                  <a:srgbClr val="212121"/>
                </a:solidFill>
                <a:latin typeface="Calibri"/>
              </a:rPr>
              <a:rPr sz="1600"/>
              <a:t>Menjaga komitmen dan memenuhi janji adalah penting untuk memelihara kepercayaan. Ini menunjukkan bahwa Anda dapat diandalkan dan serius dalam membangun hubungan yang kuat.</a:t>
            </a:r>
          </a:p>
          <a:p>
            <a:r>
              <a:rPr lang="id-ID" dirty="0" b="1" typeface="Calibri">
                <a:solidFill>
                  <a:srgbClr val="4CAF50"/>
                </a:solidFill>
                <a:latin typeface="Calibri"/>
              </a:rPr>
              <a:rPr sz="1600"/>
              <a:t>• Langkah 3: Mengakui dan Menghargai</a:t>
            </a:r>
          </a:p>
          <a:p>
            <a:r>
              <a:rPr lang="id-ID" dirty="0" typeface="Calibri">
                <a:solidFill>
                  <a:srgbClr val="212121"/>
                </a:solidFill>
                <a:latin typeface="Calibri"/>
              </a:rPr>
              <a:rPr sz="1600"/>
              <a:t>Mengakui dan menghargai kontribusi anggota tim dapat meningkatkan kepercayaan dan motivasi. Ini menunjukkan bahwa Anda menghargai dan menghormati mereka.</a:t>
            </a:r>
          </a:p>
        </p:txBody>
      </p:sp>
    </p:spTree>
  </p:cSld>
</p:sld>
</file>

<file path=ppt/slides/slide5.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STUDI KASUS: MEMBANGUN KEPERCAYAAN DI TEMPAT KERJA</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Contoh Kasus: Perusahaan XYZ</a:t>
            </a:r>
          </a:p>
          <a:p>
            <a:r>
              <a:rPr lang="id-ID" dirty="0" typeface="Calibri">
                <a:solidFill>
                  <a:srgbClr val="212121"/>
                </a:solidFill>
                <a:latin typeface="Calibri"/>
              </a:rPr>
              <a:rPr sz="1600"/>
              <a:t>Perusahaan XYZ mengalami kesulitan dalam membangun kepercayaan antara manajemen dan karyawan. Untuk mengatasi ini, mereka meluncurkan program komunikasi terbuka dan transparan, serta memperkenalkan sistem pengakuan dan penghargaan untuk karyawan.</a:t>
            </a:r>
          </a:p>
          <a:p>
            <a:r>
              <a:rPr lang="id-ID" dirty="0" b="1" typeface="Calibri">
                <a:solidFill>
                  <a:srgbClr val="212121"/>
                </a:solidFill>
                <a:latin typeface="Calibri"/>
              </a:rPr>
              <a:rPr sz="1600"/>
              <a:t>• Hasil</a:t>
            </a:r>
          </a:p>
          <a:p>
            <a:r>
              <a:rPr lang="id-ID" dirty="0" typeface="Calibri">
                <a:solidFill>
                  <a:srgbClr val="212121"/>
                </a:solidFill>
                <a:latin typeface="Calibri"/>
              </a:rPr>
              <a:rPr sz="1600"/>
              <a:t>Setelah implementasi program, kepercayaan antara manajemen dan karyawan meningkat secara signifikan. Ini berdampak pada peningkatan motivasi, produktivitas, dan kepuasan kerja.</a:t>
            </a:r>
          </a:p>
        </p:txBody>
      </p:sp>
    </p:spTree>
  </p:cSld>
</p:sld>
</file>

<file path=ppt/slides/slide6.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PENUTUP: RINGKASAN DAN TINDAKAN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Ringkasan</a:t>
            </a:r>
          </a:p>
          <a:p>
            <a:r>
              <a:rPr lang="id-ID" dirty="0" typeface="Calibri">
                <a:solidFill>
                  <a:srgbClr val="212121"/>
                </a:solidFill>
                <a:latin typeface="Calibri"/>
              </a:rPr>
              <a:rPr sz="1600"/>
              <a:t>Membangun kepercayaan adalah kunci sukses dalam kerja tim. Ini memerlukan komunikasi terbuka, menjaga komitmen, dan mengakui kontribusi anggota tim.</a:t>
            </a:r>
          </a:p>
          <a:p>
            <a:r>
              <a:rPr lang="id-ID" dirty="0" b="1" typeface="Calibri">
                <a:solidFill>
                  <a:srgbClr val="212121"/>
                </a:solidFill>
                <a:latin typeface="Calibri"/>
              </a:rPr>
              <a:rPr sz="1600"/>
              <a:t>• Tindakan</a:t>
            </a:r>
          </a:p>
          <a:p>
            <a:r>
              <a:rPr lang="id-ID" dirty="0" b="1" typeface="Calibri">
                <a:solidFill>
                  <a:srgbClr val="4CAF50"/>
                </a:solidFill>
                <a:latin typeface="Calibri"/>
              </a:rPr>
              <a:rPr sz="1600"/>
              <a:t>Mulailah membangun kepercayaan hari ini dengan menerapkan langkah-langkah yang telah dibahas. Ingat, kepercayaan membutuhkan waktu untuk dibangun, tetapi dapat hilang dalam sekejap.</a:t>
            </a:r>
          </a:p>
        </p:txBody>
      </p:sp>
    </p:spTree>
  </p:cSld>
</p:sld>
</file>

<file path=ppt/slides/slide7.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typeface="Calibri">
                <a:solidFill>
                  <a:srgbClr val="212121"/>
                </a:solidFill>
                <a:latin typeface="Calibri"/>
              </a:rPr>
              <a:rPr sz="2800" b="1"/>
              <a:t>Aktivitas &amp; Latihan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D32F2F"/>
                </a:solidFill>
                <a:latin typeface="Calibri"/>
              </a:rPr>
              <a:rPr sz="1800" b="1"/>
              <a:t>1. Diskusi Kelompok: Membangun Kepercayaan (20 menit)</a:t>
            </a:r>
          </a:p>
          <a:p>
            <a:r>
              <a:rPr lang="id-ID" dirty="0" typeface="Calibri">
                <a:solidFill>
                  <a:srgbClr val="212121"/>
                </a:solidFill>
                <a:latin typeface="Calibri"/>
              </a:rPr>
              <a:rPr sz="1500"/>
              <a:t xml:space="preserve">   Bagi peserta ke dalam kelompok kecil dan minta mereka untuk mendiskusikan strategi membangun kepercayaan dalam tim.</a:t>
            </a:r>
          </a:p>
        </p:txBody>
      </p:sp>
    </p:spTree>
  </p:cSld>
</p:sld>
</file>

<file path=ppt/slides/slide8.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typeface="Calibri">
                <a:solidFill>
                  <a:srgbClr val="212121"/>
                </a:solidFill>
                <a:latin typeface="Calibri"/>
              </a:rPr>
              <a:rPr sz="2800" b="1"/>
              <a:t>Assessment &amp; Evaluasi</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500" b="1"/>
              <a:t>Q1: Apa yang dimaksud dengan kepercayaan dalam konteks kerja?</a:t>
            </a:r>
          </a:p>
          <a:p>
            <a:r>
              <a:rPr lang="id-ID" dirty="0" b="1" typeface="Calibri">
                <a:solidFill>
                  <a:srgbClr val="D32F2F"/>
                </a:solidFill>
                <a:latin typeface="Calibri"/>
              </a:rPr>
              <a:rPr sz="1400"/>
              <a:t>A: Kepercayaan dalam konteks kerja merujuk pada keyakinan bahwa seseorang atau sebuah tim akan bertindak dengan integritas, kompetensi, dan kepedulian terhadap kepentingan bersama.</a:t>
            </a:r>
          </a:p>
        </p:txBody>
      </p:sp>
    </p:spTree>
  </p:cSld>
</p:sld>
</file>

<file path=ppt/theme/theme1.xml><?xml version="1.0" encoding="utf-8"?>
<a:theme xmlns="http://schemas.openxmlformats.org/drawingml/2006/main" xmlns:a="http://schemas.openxmlformats.org/drawingml/2006/main" xmlns:r="http://schemas.openxmlformats.org/officeDocument/2006/relationships" xmlns:sh="http://schemas.openxmlformats.org/officeDocument/2006/sharedTypes" xmlns:xml="http://www.w3.org/XML/1998/namespace"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xmlns:xml="http://www.w3.org/XML/1998/namespace">
  <Company>FoxyUtils ehf</Company>
  <LinksUpToDate>false</LinksUpToDate>
  <Application>github.com/unidoc/unioffice</Application>
  <AppVersion>01.0017</AppVersion>
  <DocSecurity>0</DocSecurity>
</Properties>
</file>

<file path=docProps/core.xml><?xml version="1.0" encoding="utf-8"?>
<cp:coreProperties xmlns="http://schemas.openxmlformats.org/package/2006/metadata/core-properties" xmlns:cp="http://schemas.openxmlformats.org/package/2006/metadata/core-properties" xmlns:dc="http://purl.org/dc/elements/1.1/" xmlns:dcterms="http://purl.org/dc/terms/" xmlns:xml="http://www.w3.org/XML/1998/namespace"/>
</file>